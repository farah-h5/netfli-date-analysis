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8288000" cy="10287000"/>
  <p:notesSz cx="6858000" cy="9144000"/>
  <p:embeddedFontLst>
    <p:embeddedFont>
      <p:font typeface="Arima Madurai" panose="020B0604020202020204" charset="0"/>
      <p:regular r:id="rId23"/>
    </p:embeddedFont>
    <p:embeddedFont>
      <p:font typeface="Arima Madurai Bold" panose="020B0604020202020204" charset="0"/>
      <p:regular r:id="rId24"/>
    </p:embeddedFont>
    <p:embeddedFont>
      <p:font typeface="Chromium One" panose="020B0604020202020204" charset="0"/>
      <p:regular r:id="rId25"/>
    </p:embeddedFont>
    <p:embeddedFont>
      <p:font typeface="Fredoka" panose="020B0604020202020204" charset="0"/>
      <p:regular r:id="rId26"/>
    </p:embeddedFont>
    <p:embeddedFont>
      <p:font typeface="Pacifico" panose="00000500000000000000" pitchFamily="2" charset="0"/>
      <p:regular r:id="rId27"/>
    </p:embeddedFont>
    <p:embeddedFont>
      <p:font typeface="TAN Meringue" charset="0"/>
      <p:regular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9" d="100"/>
          <a:sy n="49" d="100"/>
        </p:scale>
        <p:origin x="235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5.fntdata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svg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svg"/><Relationship Id="rId5" Type="http://schemas.openxmlformats.org/officeDocument/2006/relationships/image" Target="../media/image16.svg"/><Relationship Id="rId4" Type="http://schemas.openxmlformats.org/officeDocument/2006/relationships/image" Target="../media/image15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sv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6.svg"/><Relationship Id="rId4" Type="http://schemas.openxmlformats.org/officeDocument/2006/relationships/image" Target="../media/image2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6.svg"/><Relationship Id="rId4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6.svg"/><Relationship Id="rId4" Type="http://schemas.openxmlformats.org/officeDocument/2006/relationships/image" Target="../media/image2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26.svg"/><Relationship Id="rId4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image" Target="../media/image26.svg"/><Relationship Id="rId4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5" Type="http://schemas.openxmlformats.org/officeDocument/2006/relationships/image" Target="../media/image26.svg"/><Relationship Id="rId4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image" Target="../media/image26.svg"/><Relationship Id="rId4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6.svg"/><Relationship Id="rId4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svg"/><Relationship Id="rId5" Type="http://schemas.openxmlformats.org/officeDocument/2006/relationships/image" Target="../media/image17.svg"/><Relationship Id="rId4" Type="http://schemas.openxmlformats.org/officeDocument/2006/relationships/image" Target="../media/image16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svg"/><Relationship Id="rId5" Type="http://schemas.openxmlformats.org/officeDocument/2006/relationships/image" Target="../media/image17.svg"/><Relationship Id="rId4" Type="http://schemas.openxmlformats.org/officeDocument/2006/relationships/image" Target="../media/image16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sv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svg"/><Relationship Id="rId2" Type="http://schemas.openxmlformats.org/officeDocument/2006/relationships/image" Target="../media/image36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9.svg"/><Relationship Id="rId4" Type="http://schemas.openxmlformats.org/officeDocument/2006/relationships/image" Target="../media/image3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7889989" cy="7875644"/>
          </a:xfrm>
          <a:custGeom>
            <a:avLst/>
            <a:gdLst/>
            <a:ahLst/>
            <a:cxnLst/>
            <a:rect l="l" t="t" r="r" b="b"/>
            <a:pathLst>
              <a:path w="7889989" h="7875644">
                <a:moveTo>
                  <a:pt x="7889989" y="0"/>
                </a:moveTo>
                <a:lnTo>
                  <a:pt x="0" y="0"/>
                </a:lnTo>
                <a:lnTo>
                  <a:pt x="0" y="7875644"/>
                </a:lnTo>
                <a:lnTo>
                  <a:pt x="7889989" y="7875644"/>
                </a:lnTo>
                <a:lnTo>
                  <a:pt x="7889989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990471">
            <a:off x="14455133" y="5927192"/>
            <a:ext cx="4394954" cy="4927078"/>
          </a:xfrm>
          <a:custGeom>
            <a:avLst/>
            <a:gdLst/>
            <a:ahLst/>
            <a:cxnLst/>
            <a:rect l="l" t="t" r="r" b="b"/>
            <a:pathLst>
              <a:path w="4394954" h="4927078">
                <a:moveTo>
                  <a:pt x="0" y="0"/>
                </a:moveTo>
                <a:lnTo>
                  <a:pt x="4394954" y="0"/>
                </a:lnTo>
                <a:lnTo>
                  <a:pt x="4394954" y="4927078"/>
                </a:lnTo>
                <a:lnTo>
                  <a:pt x="0" y="492707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0" y="4242368"/>
            <a:ext cx="8339736" cy="6044632"/>
          </a:xfrm>
          <a:custGeom>
            <a:avLst/>
            <a:gdLst/>
            <a:ahLst/>
            <a:cxnLst/>
            <a:rect l="l" t="t" r="r" b="b"/>
            <a:pathLst>
              <a:path w="8339736" h="6044632">
                <a:moveTo>
                  <a:pt x="0" y="0"/>
                </a:moveTo>
                <a:lnTo>
                  <a:pt x="8339736" y="0"/>
                </a:lnTo>
                <a:lnTo>
                  <a:pt x="8339736" y="6044632"/>
                </a:lnTo>
                <a:lnTo>
                  <a:pt x="0" y="604463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5399999">
            <a:off x="13821173" y="-229091"/>
            <a:ext cx="4923536" cy="5381717"/>
          </a:xfrm>
          <a:custGeom>
            <a:avLst/>
            <a:gdLst/>
            <a:ahLst/>
            <a:cxnLst/>
            <a:rect l="l" t="t" r="r" b="b"/>
            <a:pathLst>
              <a:path w="4923536" h="5198117">
                <a:moveTo>
                  <a:pt x="0" y="0"/>
                </a:moveTo>
                <a:lnTo>
                  <a:pt x="4923535" y="0"/>
                </a:lnTo>
                <a:lnTo>
                  <a:pt x="4923535" y="5198117"/>
                </a:lnTo>
                <a:lnTo>
                  <a:pt x="0" y="519811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428943" y="3331720"/>
            <a:ext cx="15430114" cy="3326506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850"/>
              </a:lnSpc>
            </a:pPr>
            <a:r>
              <a:rPr lang="en-US" sz="12824" dirty="0">
                <a:solidFill>
                  <a:srgbClr val="C09A78"/>
                </a:solidFill>
                <a:latin typeface="TAN Meringue"/>
                <a:ea typeface="TAN Meringue"/>
                <a:cs typeface="TAN Meringue"/>
                <a:sym typeface="TAN Meringue"/>
              </a:rPr>
              <a:t>Netflix</a:t>
            </a:r>
          </a:p>
          <a:p>
            <a:pPr algn="ctr">
              <a:lnSpc>
                <a:spcPts val="12122"/>
              </a:lnSpc>
            </a:pPr>
            <a:r>
              <a:rPr lang="en-US" sz="11224" dirty="0">
                <a:solidFill>
                  <a:srgbClr val="C09A78"/>
                </a:solidFill>
                <a:latin typeface="TAN Meringue"/>
                <a:ea typeface="TAN Meringue"/>
                <a:cs typeface="TAN Meringue"/>
                <a:sym typeface="TAN Meringue"/>
              </a:rPr>
              <a:t> Data ANALYSIS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880593" y="6816222"/>
            <a:ext cx="6526814" cy="782623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13"/>
              </a:lnSpc>
            </a:pPr>
            <a:r>
              <a:rPr lang="en-US" sz="4438" dirty="0" err="1">
                <a:solidFill>
                  <a:srgbClr val="9F7969"/>
                </a:solidFill>
                <a:latin typeface="Chromium One"/>
                <a:ea typeface="Chromium One"/>
                <a:cs typeface="Chromium One"/>
                <a:sym typeface="Chromium One"/>
              </a:rPr>
              <a:t>Fainal</a:t>
            </a:r>
            <a:r>
              <a:rPr lang="en-US" sz="4438" dirty="0">
                <a:solidFill>
                  <a:srgbClr val="9F7969"/>
                </a:solidFill>
                <a:latin typeface="Chromium One"/>
                <a:ea typeface="Chromium One"/>
                <a:cs typeface="Chromium One"/>
                <a:sym typeface="Chromium One"/>
              </a:rPr>
              <a:t> Project By NTI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CFA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943999" y="0"/>
            <a:ext cx="4344001" cy="4344001"/>
          </a:xfrm>
          <a:custGeom>
            <a:avLst/>
            <a:gdLst/>
            <a:ahLst/>
            <a:cxnLst/>
            <a:rect l="l" t="t" r="r" b="b"/>
            <a:pathLst>
              <a:path w="4344001" h="4344001">
                <a:moveTo>
                  <a:pt x="0" y="0"/>
                </a:moveTo>
                <a:lnTo>
                  <a:pt x="4344001" y="0"/>
                </a:lnTo>
                <a:lnTo>
                  <a:pt x="4344001" y="4344001"/>
                </a:lnTo>
                <a:lnTo>
                  <a:pt x="0" y="434400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382745">
            <a:off x="4236786" y="948906"/>
            <a:ext cx="11190186" cy="8581762"/>
          </a:xfrm>
          <a:custGeom>
            <a:avLst/>
            <a:gdLst/>
            <a:ahLst/>
            <a:cxnLst/>
            <a:rect l="l" t="t" r="r" b="b"/>
            <a:pathLst>
              <a:path w="11190186" h="8581762">
                <a:moveTo>
                  <a:pt x="0" y="0"/>
                </a:moveTo>
                <a:lnTo>
                  <a:pt x="11190186" y="0"/>
                </a:lnTo>
                <a:lnTo>
                  <a:pt x="11190186" y="8581762"/>
                </a:lnTo>
                <a:lnTo>
                  <a:pt x="0" y="858176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1295823" y="5797633"/>
            <a:ext cx="6427296" cy="5247011"/>
          </a:xfrm>
          <a:custGeom>
            <a:avLst/>
            <a:gdLst/>
            <a:ahLst/>
            <a:cxnLst/>
            <a:rect l="l" t="t" r="r" b="b"/>
            <a:pathLst>
              <a:path w="6427296" h="5247011">
                <a:moveTo>
                  <a:pt x="0" y="0"/>
                </a:moveTo>
                <a:lnTo>
                  <a:pt x="6427297" y="0"/>
                </a:lnTo>
                <a:lnTo>
                  <a:pt x="6427297" y="5247011"/>
                </a:lnTo>
                <a:lnTo>
                  <a:pt x="0" y="52470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-205942" y="0"/>
            <a:ext cx="4247535" cy="4114800"/>
          </a:xfrm>
          <a:custGeom>
            <a:avLst/>
            <a:gdLst/>
            <a:ahLst/>
            <a:cxnLst/>
            <a:rect l="l" t="t" r="r" b="b"/>
            <a:pathLst>
              <a:path w="4247535" h="4114800">
                <a:moveTo>
                  <a:pt x="0" y="0"/>
                </a:moveTo>
                <a:lnTo>
                  <a:pt x="4247535" y="0"/>
                </a:lnTo>
                <a:lnTo>
                  <a:pt x="424753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8517826">
            <a:off x="13324326" y="6867431"/>
            <a:ext cx="7014022" cy="4114800"/>
          </a:xfrm>
          <a:custGeom>
            <a:avLst/>
            <a:gdLst/>
            <a:ahLst/>
            <a:cxnLst/>
            <a:rect l="l" t="t" r="r" b="b"/>
            <a:pathLst>
              <a:path w="7014022" h="4114800">
                <a:moveTo>
                  <a:pt x="0" y="0"/>
                </a:moveTo>
                <a:lnTo>
                  <a:pt x="7014022" y="0"/>
                </a:lnTo>
                <a:lnTo>
                  <a:pt x="701402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 rot="817886">
            <a:off x="5439753" y="4395239"/>
            <a:ext cx="9154310" cy="2673804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99"/>
              </a:lnSpc>
            </a:pPr>
            <a:r>
              <a:rPr lang="en-US" sz="3857" dirty="0">
                <a:solidFill>
                  <a:srgbClr val="9F7969"/>
                </a:solidFill>
                <a:latin typeface="Pacifico"/>
                <a:ea typeface="Pacifico"/>
                <a:cs typeface="Pacifico"/>
                <a:sym typeface="Pacifico"/>
              </a:rPr>
              <a:t>Jomana Soliman          Zainab Mohamed</a:t>
            </a:r>
          </a:p>
          <a:p>
            <a:pPr algn="l">
              <a:lnSpc>
                <a:spcPts val="5399"/>
              </a:lnSpc>
            </a:pPr>
            <a:r>
              <a:rPr lang="en-US" sz="3857" dirty="0">
                <a:solidFill>
                  <a:srgbClr val="9F7969"/>
                </a:solidFill>
                <a:latin typeface="Pacifico"/>
                <a:ea typeface="Pacifico"/>
                <a:cs typeface="Pacifico"/>
                <a:sym typeface="Pacifico"/>
              </a:rPr>
              <a:t>Randa  Fawzy             Malak </a:t>
            </a:r>
            <a:r>
              <a:rPr lang="en-US" sz="3857" dirty="0" err="1">
                <a:solidFill>
                  <a:srgbClr val="9F7969"/>
                </a:solidFill>
                <a:latin typeface="Pacifico"/>
                <a:ea typeface="Pacifico"/>
                <a:cs typeface="Pacifico"/>
                <a:sym typeface="Pacifico"/>
              </a:rPr>
              <a:t>Abdelrazak</a:t>
            </a:r>
            <a:endParaRPr lang="en-US" sz="3857" dirty="0">
              <a:solidFill>
                <a:srgbClr val="9F7969"/>
              </a:solidFill>
              <a:latin typeface="Pacifico"/>
              <a:ea typeface="Pacifico"/>
              <a:cs typeface="Pacifico"/>
              <a:sym typeface="Pacifico"/>
            </a:endParaRPr>
          </a:p>
          <a:p>
            <a:pPr algn="l">
              <a:lnSpc>
                <a:spcPts val="5399"/>
              </a:lnSpc>
            </a:pPr>
            <a:r>
              <a:rPr lang="en-US" sz="3857" dirty="0">
                <a:solidFill>
                  <a:srgbClr val="9F7969"/>
                </a:solidFill>
                <a:latin typeface="Pacifico"/>
                <a:ea typeface="Pacifico"/>
                <a:cs typeface="Pacifico"/>
                <a:sym typeface="Pacifico"/>
              </a:rPr>
              <a:t>Farah Hamed               </a:t>
            </a:r>
          </a:p>
          <a:p>
            <a:pPr algn="l">
              <a:lnSpc>
                <a:spcPts val="5399"/>
              </a:lnSpc>
            </a:pPr>
            <a:r>
              <a:rPr lang="en-US" sz="3857" dirty="0">
                <a:solidFill>
                  <a:srgbClr val="9F7969"/>
                </a:solidFill>
                <a:latin typeface="Pacifico"/>
                <a:ea typeface="Pacifico"/>
                <a:cs typeface="Pacifico"/>
                <a:sym typeface="Pacifico"/>
              </a:rPr>
              <a:t>Basmala Mohamed</a:t>
            </a:r>
          </a:p>
        </p:txBody>
      </p:sp>
      <p:sp>
        <p:nvSpPr>
          <p:cNvPr id="8" name="Freeform 8"/>
          <p:cNvSpPr/>
          <p:nvPr/>
        </p:nvSpPr>
        <p:spPr>
          <a:xfrm rot="764823">
            <a:off x="6144932" y="1145766"/>
            <a:ext cx="1190188" cy="1155564"/>
          </a:xfrm>
          <a:custGeom>
            <a:avLst/>
            <a:gdLst/>
            <a:ahLst/>
            <a:cxnLst/>
            <a:rect l="l" t="t" r="r" b="b"/>
            <a:pathLst>
              <a:path w="1190188" h="1155564">
                <a:moveTo>
                  <a:pt x="0" y="0"/>
                </a:moveTo>
                <a:lnTo>
                  <a:pt x="1190188" y="0"/>
                </a:lnTo>
                <a:lnTo>
                  <a:pt x="1190188" y="1155564"/>
                </a:lnTo>
                <a:lnTo>
                  <a:pt x="0" y="115556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 rot="817356">
            <a:off x="7646285" y="2635253"/>
            <a:ext cx="5460312" cy="1382295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960"/>
              </a:lnSpc>
            </a:pPr>
            <a:r>
              <a:rPr lang="en-US" sz="7828" dirty="0">
                <a:solidFill>
                  <a:srgbClr val="74564A"/>
                </a:solidFill>
                <a:latin typeface="Chromium One"/>
                <a:ea typeface="Chromium One"/>
                <a:cs typeface="Chromium One"/>
                <a:sym typeface="Chromium One"/>
              </a:rPr>
              <a:t>Our Team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3890273"/>
            <a:ext cx="7088002" cy="6396727"/>
          </a:xfrm>
          <a:custGeom>
            <a:avLst/>
            <a:gdLst/>
            <a:ahLst/>
            <a:cxnLst/>
            <a:rect l="l" t="t" r="r" b="b"/>
            <a:pathLst>
              <a:path w="7088002" h="6396727">
                <a:moveTo>
                  <a:pt x="0" y="0"/>
                </a:moveTo>
                <a:lnTo>
                  <a:pt x="7088002" y="0"/>
                </a:lnTo>
                <a:lnTo>
                  <a:pt x="7088002" y="6396727"/>
                </a:lnTo>
                <a:lnTo>
                  <a:pt x="0" y="639672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11199998" y="0"/>
            <a:ext cx="7088002" cy="6396727"/>
          </a:xfrm>
          <a:custGeom>
            <a:avLst/>
            <a:gdLst/>
            <a:ahLst/>
            <a:cxnLst/>
            <a:rect l="l" t="t" r="r" b="b"/>
            <a:pathLst>
              <a:path w="7088002" h="6396727">
                <a:moveTo>
                  <a:pt x="7088002" y="6396727"/>
                </a:moveTo>
                <a:lnTo>
                  <a:pt x="0" y="6396727"/>
                </a:lnTo>
                <a:lnTo>
                  <a:pt x="0" y="0"/>
                </a:lnTo>
                <a:lnTo>
                  <a:pt x="7088002" y="0"/>
                </a:lnTo>
                <a:lnTo>
                  <a:pt x="7088002" y="6396727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1556542">
            <a:off x="15923502" y="6479119"/>
            <a:ext cx="2325089" cy="4222840"/>
          </a:xfrm>
          <a:custGeom>
            <a:avLst/>
            <a:gdLst/>
            <a:ahLst/>
            <a:cxnLst/>
            <a:rect l="l" t="t" r="r" b="b"/>
            <a:pathLst>
              <a:path w="2325089" h="4222840">
                <a:moveTo>
                  <a:pt x="0" y="0"/>
                </a:moveTo>
                <a:lnTo>
                  <a:pt x="2325089" y="0"/>
                </a:lnTo>
                <a:lnTo>
                  <a:pt x="2325089" y="4222840"/>
                </a:lnTo>
                <a:lnTo>
                  <a:pt x="0" y="422284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2110510" flipH="1">
            <a:off x="214856" y="-399103"/>
            <a:ext cx="2325089" cy="4222840"/>
          </a:xfrm>
          <a:custGeom>
            <a:avLst/>
            <a:gdLst/>
            <a:ahLst/>
            <a:cxnLst/>
            <a:rect l="l" t="t" r="r" b="b"/>
            <a:pathLst>
              <a:path w="2325089" h="4222840">
                <a:moveTo>
                  <a:pt x="2325089" y="0"/>
                </a:moveTo>
                <a:lnTo>
                  <a:pt x="0" y="0"/>
                </a:lnTo>
                <a:lnTo>
                  <a:pt x="0" y="4222840"/>
                </a:lnTo>
                <a:lnTo>
                  <a:pt x="2325089" y="4222840"/>
                </a:lnTo>
                <a:lnTo>
                  <a:pt x="2325089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5570603" y="857250"/>
            <a:ext cx="6598238" cy="1264786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087"/>
              </a:lnSpc>
            </a:pPr>
            <a:r>
              <a:rPr lang="en-US" sz="7205" dirty="0">
                <a:solidFill>
                  <a:srgbClr val="74564A"/>
                </a:solidFill>
                <a:latin typeface="Chromium One"/>
                <a:ea typeface="Chromium One"/>
                <a:cs typeface="Chromium One"/>
                <a:sym typeface="Chromium One"/>
              </a:rPr>
              <a:t>Introduction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115171" y="2564830"/>
            <a:ext cx="12057658" cy="65530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99"/>
              </a:lnSpc>
            </a:pPr>
            <a:r>
              <a:rPr lang="en-US" sz="2642" b="1">
                <a:solidFill>
                  <a:srgbClr val="9F7969"/>
                </a:solidFill>
                <a:latin typeface="Arima Madurai Bold"/>
                <a:ea typeface="Arima Madurai Bold"/>
                <a:cs typeface="Arima Madurai Bold"/>
                <a:sym typeface="Arima Madurai Bold"/>
              </a:rPr>
              <a:t>Our project focuses on analyzing Netflix content data to discover </a:t>
            </a:r>
          </a:p>
          <a:p>
            <a:pPr algn="ctr">
              <a:lnSpc>
                <a:spcPts val="3699"/>
              </a:lnSpc>
            </a:pPr>
            <a:r>
              <a:rPr lang="en-US" sz="2642" b="1">
                <a:solidFill>
                  <a:srgbClr val="9F7969"/>
                </a:solidFill>
                <a:latin typeface="Arima Madurai Bold"/>
                <a:ea typeface="Arima Madurai Bold"/>
                <a:cs typeface="Arima Madurai Bold"/>
                <a:sym typeface="Arima Madurai Bold"/>
              </a:rPr>
              <a:t>meaningful patterns and insights. We explore the distribution of movies</a:t>
            </a:r>
          </a:p>
          <a:p>
            <a:pPr algn="ctr">
              <a:lnSpc>
                <a:spcPts val="3699"/>
              </a:lnSpc>
            </a:pPr>
            <a:r>
              <a:rPr lang="en-US" sz="2642" b="1">
                <a:solidFill>
                  <a:srgbClr val="9F7969"/>
                </a:solidFill>
                <a:latin typeface="Arima Madurai Bold"/>
                <a:ea typeface="Arima Madurai Bold"/>
                <a:cs typeface="Arima Madurai Bold"/>
                <a:sym typeface="Arima Madurai Bold"/>
              </a:rPr>
              <a:t> and TV shows, the countries producing content, audience ratings, </a:t>
            </a:r>
          </a:p>
          <a:p>
            <a:pPr algn="ctr">
              <a:lnSpc>
                <a:spcPts val="3699"/>
              </a:lnSpc>
            </a:pPr>
            <a:r>
              <a:rPr lang="en-US" sz="2642" b="1">
                <a:solidFill>
                  <a:srgbClr val="9F7969"/>
                </a:solidFill>
                <a:latin typeface="Arima Madurai Bold"/>
                <a:ea typeface="Arima Madurai Bold"/>
                <a:cs typeface="Arima Madurai Bold"/>
                <a:sym typeface="Arima Madurai Bold"/>
              </a:rPr>
              <a:t>release years, and changes in Netflix's content library over time.</a:t>
            </a:r>
          </a:p>
          <a:p>
            <a:pPr algn="ctr">
              <a:lnSpc>
                <a:spcPts val="3699"/>
              </a:lnSpc>
            </a:pPr>
            <a:endParaRPr lang="en-US" sz="2642" b="1">
              <a:solidFill>
                <a:srgbClr val="9F7969"/>
              </a:solidFill>
              <a:latin typeface="Arima Madurai Bold"/>
              <a:ea typeface="Arima Madurai Bold"/>
              <a:cs typeface="Arima Madurai Bold"/>
              <a:sym typeface="Arima Madurai Bold"/>
            </a:endParaRPr>
          </a:p>
          <a:p>
            <a:pPr algn="ctr">
              <a:lnSpc>
                <a:spcPts val="3699"/>
              </a:lnSpc>
            </a:pPr>
            <a:r>
              <a:rPr lang="en-US" sz="2642" b="1">
                <a:solidFill>
                  <a:srgbClr val="9F7969"/>
                </a:solidFill>
                <a:latin typeface="Arima Madurai Bold"/>
                <a:ea typeface="Arima Madurai Bold"/>
                <a:cs typeface="Arima Madurai Bold"/>
                <a:sym typeface="Arima Madurai Bold"/>
              </a:rPr>
              <a:t>The project follows the complete data analysis process, starting with</a:t>
            </a:r>
          </a:p>
          <a:p>
            <a:pPr algn="ctr">
              <a:lnSpc>
                <a:spcPts val="3699"/>
              </a:lnSpc>
            </a:pPr>
            <a:r>
              <a:rPr lang="en-US" sz="2642" b="1">
                <a:solidFill>
                  <a:srgbClr val="9F7969"/>
                </a:solidFill>
                <a:latin typeface="Arima Madurai Bold"/>
                <a:ea typeface="Arima Madurai Bold"/>
                <a:cs typeface="Arima Madurai Bold"/>
                <a:sym typeface="Arima Madurai Bold"/>
              </a:rPr>
              <a:t> the raw dataset and continuing through data cleaning, data preparation</a:t>
            </a:r>
          </a:p>
          <a:p>
            <a:pPr algn="ctr">
              <a:lnSpc>
                <a:spcPts val="3699"/>
              </a:lnSpc>
            </a:pPr>
            <a:r>
              <a:rPr lang="en-US" sz="2642" b="1">
                <a:solidFill>
                  <a:srgbClr val="9F7969"/>
                </a:solidFill>
                <a:latin typeface="Arima Madurai Bold"/>
                <a:ea typeface="Arima Madurai Bold"/>
                <a:cs typeface="Arima Madurai Bold"/>
                <a:sym typeface="Arima Madurai Bold"/>
              </a:rPr>
              <a:t>, data querying, analysis, visualization, and interpretation.</a:t>
            </a:r>
          </a:p>
          <a:p>
            <a:pPr algn="ctr">
              <a:lnSpc>
                <a:spcPts val="3699"/>
              </a:lnSpc>
            </a:pPr>
            <a:endParaRPr lang="en-US" sz="2642" b="1">
              <a:solidFill>
                <a:srgbClr val="9F7969"/>
              </a:solidFill>
              <a:latin typeface="Arima Madurai Bold"/>
              <a:ea typeface="Arima Madurai Bold"/>
              <a:cs typeface="Arima Madurai Bold"/>
              <a:sym typeface="Arima Madurai Bold"/>
            </a:endParaRPr>
          </a:p>
          <a:p>
            <a:pPr algn="ctr">
              <a:lnSpc>
                <a:spcPts val="3699"/>
              </a:lnSpc>
            </a:pPr>
            <a:r>
              <a:rPr lang="en-US" sz="2642" b="1">
                <a:solidFill>
                  <a:srgbClr val="9F7969"/>
                </a:solidFill>
                <a:latin typeface="Arima Madurai Bold"/>
                <a:ea typeface="Arima Madurai Bold"/>
                <a:cs typeface="Arima Madurai Bold"/>
                <a:sym typeface="Arima Madurai Bold"/>
              </a:rPr>
              <a:t>Different tools were used throughout the project, including Excel </a:t>
            </a:r>
          </a:p>
          <a:p>
            <a:pPr algn="ctr">
              <a:lnSpc>
                <a:spcPts val="3699"/>
              </a:lnSpc>
            </a:pPr>
            <a:r>
              <a:rPr lang="en-US" sz="2642" b="1">
                <a:solidFill>
                  <a:srgbClr val="9F7969"/>
                </a:solidFill>
                <a:latin typeface="Arima Madurai Bold"/>
                <a:ea typeface="Arima Madurai Bold"/>
                <a:cs typeface="Arima Madurai Bold"/>
                <a:sym typeface="Arima Madurai Bold"/>
              </a:rPr>
              <a:t>for data cleaning and preparation, SQL for querying and analyzing </a:t>
            </a:r>
          </a:p>
          <a:p>
            <a:pPr algn="ctr">
              <a:lnSpc>
                <a:spcPts val="3699"/>
              </a:lnSpc>
            </a:pPr>
            <a:r>
              <a:rPr lang="en-US" sz="2642" b="1">
                <a:solidFill>
                  <a:srgbClr val="9F7969"/>
                </a:solidFill>
                <a:latin typeface="Arima Madurai Bold"/>
                <a:ea typeface="Arima Madurai Bold"/>
                <a:cs typeface="Arima Madurai Bold"/>
                <a:sym typeface="Arima Madurai Bold"/>
              </a:rPr>
              <a:t>structured data, Python for data analysis and exploration, and Power BI</a:t>
            </a:r>
          </a:p>
          <a:p>
            <a:pPr algn="ctr">
              <a:lnSpc>
                <a:spcPts val="3699"/>
              </a:lnSpc>
            </a:pPr>
            <a:r>
              <a:rPr lang="en-US" sz="2642" b="1">
                <a:solidFill>
                  <a:srgbClr val="9F7969"/>
                </a:solidFill>
                <a:latin typeface="Arima Madurai Bold"/>
                <a:ea typeface="Arima Madurai Bold"/>
                <a:cs typeface="Arima Madurai Bold"/>
                <a:sym typeface="Arima Madurai Bold"/>
              </a:rPr>
              <a:t> and Tableau for creating interactive visualizations and dashboards.</a:t>
            </a:r>
          </a:p>
          <a:p>
            <a:pPr algn="ctr">
              <a:lnSpc>
                <a:spcPts val="3699"/>
              </a:lnSpc>
            </a:pPr>
            <a:endParaRPr lang="en-US" sz="2642" b="1">
              <a:solidFill>
                <a:srgbClr val="9F7969"/>
              </a:solidFill>
              <a:latin typeface="Arima Madurai Bold"/>
              <a:ea typeface="Arima Madurai Bold"/>
              <a:cs typeface="Arima Madurai Bold"/>
              <a:sym typeface="Arima Madurai Bold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CFA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767726">
            <a:off x="-1372334" y="3877880"/>
            <a:ext cx="4802068" cy="6856383"/>
          </a:xfrm>
          <a:custGeom>
            <a:avLst/>
            <a:gdLst/>
            <a:ahLst/>
            <a:cxnLst/>
            <a:rect l="l" t="t" r="r" b="b"/>
            <a:pathLst>
              <a:path w="4802068" h="6856383">
                <a:moveTo>
                  <a:pt x="0" y="0"/>
                </a:moveTo>
                <a:lnTo>
                  <a:pt x="4802068" y="0"/>
                </a:lnTo>
                <a:lnTo>
                  <a:pt x="4802068" y="6856383"/>
                </a:lnTo>
                <a:lnTo>
                  <a:pt x="0" y="685638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2275410" y="8135605"/>
            <a:ext cx="12006577" cy="8456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85"/>
              </a:lnSpc>
            </a:pPr>
            <a:r>
              <a:rPr lang="en-US" sz="2418" b="1">
                <a:solidFill>
                  <a:srgbClr val="74564A"/>
                </a:solidFill>
                <a:latin typeface="Arima Madurai Bold"/>
                <a:ea typeface="Arima Madurai Bold"/>
                <a:cs typeface="Arima Madurai Bold"/>
                <a:sym typeface="Arima Madurai Bold"/>
              </a:rPr>
              <a:t>The workflow allows us to move from raw and unorganized data to meaningful information that can be easily understood and used for decision-making.</a:t>
            </a:r>
          </a:p>
        </p:txBody>
      </p:sp>
      <p:sp>
        <p:nvSpPr>
          <p:cNvPr id="4" name="Freeform 4"/>
          <p:cNvSpPr/>
          <p:nvPr/>
        </p:nvSpPr>
        <p:spPr>
          <a:xfrm rot="1227526" flipH="1">
            <a:off x="15328806" y="3992490"/>
            <a:ext cx="4802068" cy="6856383"/>
          </a:xfrm>
          <a:custGeom>
            <a:avLst/>
            <a:gdLst/>
            <a:ahLst/>
            <a:cxnLst/>
            <a:rect l="l" t="t" r="r" b="b"/>
            <a:pathLst>
              <a:path w="4802068" h="6856383">
                <a:moveTo>
                  <a:pt x="4802068" y="0"/>
                </a:moveTo>
                <a:lnTo>
                  <a:pt x="0" y="0"/>
                </a:lnTo>
                <a:lnTo>
                  <a:pt x="0" y="6856382"/>
                </a:lnTo>
                <a:lnTo>
                  <a:pt x="4802068" y="6856382"/>
                </a:lnTo>
                <a:lnTo>
                  <a:pt x="4802068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7238053">
            <a:off x="487420" y="-164619"/>
            <a:ext cx="2014555" cy="3230336"/>
          </a:xfrm>
          <a:custGeom>
            <a:avLst/>
            <a:gdLst/>
            <a:ahLst/>
            <a:cxnLst/>
            <a:rect l="l" t="t" r="r" b="b"/>
            <a:pathLst>
              <a:path w="2014555" h="3230336">
                <a:moveTo>
                  <a:pt x="0" y="0"/>
                </a:moveTo>
                <a:lnTo>
                  <a:pt x="2014555" y="0"/>
                </a:lnTo>
                <a:lnTo>
                  <a:pt x="2014555" y="3230336"/>
                </a:lnTo>
                <a:lnTo>
                  <a:pt x="0" y="32303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2995939">
            <a:off x="15743775" y="-43811"/>
            <a:ext cx="2014555" cy="3230336"/>
          </a:xfrm>
          <a:custGeom>
            <a:avLst/>
            <a:gdLst/>
            <a:ahLst/>
            <a:cxnLst/>
            <a:rect l="l" t="t" r="r" b="b"/>
            <a:pathLst>
              <a:path w="2014555" h="3230336">
                <a:moveTo>
                  <a:pt x="0" y="0"/>
                </a:moveTo>
                <a:lnTo>
                  <a:pt x="2014555" y="0"/>
                </a:lnTo>
                <a:lnTo>
                  <a:pt x="2014555" y="3230336"/>
                </a:lnTo>
                <a:lnTo>
                  <a:pt x="0" y="32303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3421387" y="8981209"/>
            <a:ext cx="11445225" cy="2611581"/>
          </a:xfrm>
          <a:custGeom>
            <a:avLst/>
            <a:gdLst/>
            <a:ahLst/>
            <a:cxnLst/>
            <a:rect l="l" t="t" r="r" b="b"/>
            <a:pathLst>
              <a:path w="11445225" h="2611581">
                <a:moveTo>
                  <a:pt x="0" y="0"/>
                </a:moveTo>
                <a:lnTo>
                  <a:pt x="11445226" y="0"/>
                </a:lnTo>
                <a:lnTo>
                  <a:pt x="11445226" y="2611582"/>
                </a:lnTo>
                <a:lnTo>
                  <a:pt x="0" y="26115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2651799" y="2170472"/>
            <a:ext cx="8598817" cy="4616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18"/>
              </a:lnSpc>
            </a:pPr>
            <a:r>
              <a:rPr lang="en-US" sz="2656" b="1">
                <a:solidFill>
                  <a:srgbClr val="74564A"/>
                </a:solidFill>
                <a:latin typeface="Arima Madurai Bold"/>
                <a:ea typeface="Arima Madurai Bold"/>
                <a:cs typeface="Arima Madurai Bold"/>
                <a:sym typeface="Arima Madurai Bold"/>
              </a:rPr>
              <a:t>The project follows a complete data analysis workflow :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275410" y="2907610"/>
            <a:ext cx="13830738" cy="49425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277"/>
              </a:lnSpc>
            </a:pPr>
            <a:r>
              <a:rPr lang="en-US" sz="3055" dirty="0">
                <a:solidFill>
                  <a:srgbClr val="975A43"/>
                </a:solidFill>
                <a:latin typeface="Pacifico"/>
                <a:ea typeface="Pacifico"/>
                <a:cs typeface="Pacifico"/>
                <a:sym typeface="Pacifico"/>
              </a:rPr>
              <a:t>                                    Raw Data       </a:t>
            </a:r>
          </a:p>
          <a:p>
            <a:pPr algn="ctr">
              <a:lnSpc>
                <a:spcPts val="4277"/>
              </a:lnSpc>
            </a:pPr>
            <a:r>
              <a:rPr lang="en-US" sz="3055" dirty="0">
                <a:solidFill>
                  <a:srgbClr val="975A43"/>
                </a:solidFill>
                <a:latin typeface="Pacifico"/>
                <a:ea typeface="Pacifico"/>
                <a:cs typeface="Pacifico"/>
                <a:sym typeface="Pacifico"/>
              </a:rPr>
              <a:t>                                          Data Cleaning</a:t>
            </a:r>
          </a:p>
          <a:p>
            <a:pPr algn="ctr">
              <a:lnSpc>
                <a:spcPts val="4277"/>
              </a:lnSpc>
            </a:pPr>
            <a:r>
              <a:rPr lang="en-US" sz="3055" dirty="0">
                <a:solidFill>
                  <a:srgbClr val="975A43"/>
                </a:solidFill>
                <a:latin typeface="Pacifico"/>
                <a:ea typeface="Pacifico"/>
                <a:cs typeface="Pacifico"/>
                <a:sym typeface="Pacifico"/>
              </a:rPr>
              <a:t>                                                                                                                                                 Data Preparation   </a:t>
            </a:r>
          </a:p>
          <a:p>
            <a:pPr algn="ctr">
              <a:lnSpc>
                <a:spcPts val="4277"/>
              </a:lnSpc>
            </a:pPr>
            <a:r>
              <a:rPr lang="en-US" sz="3055" dirty="0">
                <a:solidFill>
                  <a:srgbClr val="975A43"/>
                </a:solidFill>
                <a:latin typeface="Pacifico"/>
                <a:ea typeface="Pacifico"/>
                <a:cs typeface="Pacifico"/>
                <a:sym typeface="Pacifico"/>
              </a:rPr>
              <a:t>                                                        </a:t>
            </a:r>
          </a:p>
          <a:p>
            <a:pPr>
              <a:lnSpc>
                <a:spcPts val="4277"/>
              </a:lnSpc>
            </a:pPr>
            <a:r>
              <a:rPr lang="en-US" sz="3055" dirty="0">
                <a:solidFill>
                  <a:srgbClr val="975A43"/>
                </a:solidFill>
                <a:latin typeface="Pacifico"/>
                <a:ea typeface="Pacifico"/>
                <a:cs typeface="Pacifico"/>
                <a:sym typeface="Pacifico"/>
              </a:rPr>
              <a:t>                     Data Analysis</a:t>
            </a:r>
          </a:p>
          <a:p>
            <a:pPr>
              <a:lnSpc>
                <a:spcPts val="4277"/>
              </a:lnSpc>
            </a:pPr>
            <a:r>
              <a:rPr lang="en-US" sz="3055" dirty="0">
                <a:solidFill>
                  <a:srgbClr val="975A43"/>
                </a:solidFill>
                <a:latin typeface="Pacifico"/>
                <a:ea typeface="Pacifico"/>
                <a:cs typeface="Pacifico"/>
                <a:sym typeface="Pacifico"/>
              </a:rPr>
              <a:t>                                                        Data Visualization  </a:t>
            </a:r>
          </a:p>
          <a:p>
            <a:pPr algn="ctr">
              <a:lnSpc>
                <a:spcPts val="4277"/>
              </a:lnSpc>
            </a:pPr>
            <a:r>
              <a:rPr lang="en-US" sz="3055" dirty="0">
                <a:solidFill>
                  <a:srgbClr val="975A43"/>
                </a:solidFill>
                <a:latin typeface="Pacifico"/>
                <a:ea typeface="Pacifico"/>
                <a:cs typeface="Pacifico"/>
                <a:sym typeface="Pacifico"/>
              </a:rPr>
              <a:t>                                                                             Key Insights</a:t>
            </a:r>
          </a:p>
          <a:p>
            <a:pPr>
              <a:lnSpc>
                <a:spcPts val="4277"/>
              </a:lnSpc>
            </a:pPr>
            <a:r>
              <a:rPr lang="en-US" sz="3055" dirty="0">
                <a:solidFill>
                  <a:srgbClr val="975A43"/>
                </a:solidFill>
                <a:latin typeface="Pacifico"/>
                <a:ea typeface="Pacifico"/>
                <a:cs typeface="Pacifico"/>
                <a:sym typeface="Pacifico"/>
              </a:rPr>
              <a:t>                                              Recommendations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831654" y="732432"/>
            <a:ext cx="8624693" cy="1264786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087"/>
              </a:lnSpc>
              <a:spcBef>
                <a:spcPct val="0"/>
              </a:spcBef>
            </a:pPr>
            <a:r>
              <a:rPr lang="en-US" sz="7205" dirty="0">
                <a:solidFill>
                  <a:srgbClr val="74564A"/>
                </a:solidFill>
                <a:latin typeface="Chromium One"/>
                <a:ea typeface="Chromium One"/>
                <a:cs typeface="Chromium One"/>
                <a:sym typeface="Chromium One"/>
              </a:rPr>
              <a:t>Project Overview</a:t>
            </a:r>
          </a:p>
        </p:txBody>
      </p:sp>
      <p:sp>
        <p:nvSpPr>
          <p:cNvPr id="11" name="Freeform 11"/>
          <p:cNvSpPr/>
          <p:nvPr/>
        </p:nvSpPr>
        <p:spPr>
          <a:xfrm rot="516657">
            <a:off x="8123601" y="3069387"/>
            <a:ext cx="1432497" cy="463608"/>
          </a:xfrm>
          <a:custGeom>
            <a:avLst/>
            <a:gdLst/>
            <a:ahLst/>
            <a:cxnLst/>
            <a:rect l="l" t="t" r="r" b="b"/>
            <a:pathLst>
              <a:path w="1432497" h="463608">
                <a:moveTo>
                  <a:pt x="0" y="0"/>
                </a:moveTo>
                <a:lnTo>
                  <a:pt x="1432497" y="0"/>
                </a:lnTo>
                <a:lnTo>
                  <a:pt x="1432497" y="463608"/>
                </a:lnTo>
                <a:lnTo>
                  <a:pt x="0" y="4636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 rot="7073521">
            <a:off x="10845817" y="4270145"/>
            <a:ext cx="1311351" cy="708129"/>
          </a:xfrm>
          <a:custGeom>
            <a:avLst/>
            <a:gdLst/>
            <a:ahLst/>
            <a:cxnLst/>
            <a:rect l="l" t="t" r="r" b="b"/>
            <a:pathLst>
              <a:path w="1311351" h="708129">
                <a:moveTo>
                  <a:pt x="0" y="0"/>
                </a:moveTo>
                <a:lnTo>
                  <a:pt x="1311351" y="0"/>
                </a:lnTo>
                <a:lnTo>
                  <a:pt x="1311351" y="708129"/>
                </a:lnTo>
                <a:lnTo>
                  <a:pt x="0" y="70812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 rot="-1517888" flipH="1">
            <a:off x="5795136" y="4870626"/>
            <a:ext cx="1357062" cy="439194"/>
          </a:xfrm>
          <a:custGeom>
            <a:avLst/>
            <a:gdLst/>
            <a:ahLst/>
            <a:cxnLst/>
            <a:rect l="l" t="t" r="r" b="b"/>
            <a:pathLst>
              <a:path w="1357062" h="439194">
                <a:moveTo>
                  <a:pt x="1357062" y="0"/>
                </a:moveTo>
                <a:lnTo>
                  <a:pt x="0" y="0"/>
                </a:lnTo>
                <a:lnTo>
                  <a:pt x="0" y="439195"/>
                </a:lnTo>
                <a:lnTo>
                  <a:pt x="1357062" y="439195"/>
                </a:lnTo>
                <a:lnTo>
                  <a:pt x="135706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 rot="-1036189">
            <a:off x="11171687" y="5933464"/>
            <a:ext cx="1282511" cy="692556"/>
          </a:xfrm>
          <a:custGeom>
            <a:avLst/>
            <a:gdLst/>
            <a:ahLst/>
            <a:cxnLst/>
            <a:rect l="l" t="t" r="r" b="b"/>
            <a:pathLst>
              <a:path w="1282511" h="692556">
                <a:moveTo>
                  <a:pt x="0" y="0"/>
                </a:moveTo>
                <a:lnTo>
                  <a:pt x="1282510" y="0"/>
                </a:lnTo>
                <a:lnTo>
                  <a:pt x="1282510" y="692556"/>
                </a:lnTo>
                <a:lnTo>
                  <a:pt x="0" y="69255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 rot="-10013275" flipH="1">
            <a:off x="6329900" y="6420708"/>
            <a:ext cx="1242617" cy="402156"/>
          </a:xfrm>
          <a:custGeom>
            <a:avLst/>
            <a:gdLst/>
            <a:ahLst/>
            <a:cxnLst/>
            <a:rect l="l" t="t" r="r" b="b"/>
            <a:pathLst>
              <a:path w="1242617" h="402156">
                <a:moveTo>
                  <a:pt x="1242617" y="0"/>
                </a:moveTo>
                <a:lnTo>
                  <a:pt x="0" y="0"/>
                </a:lnTo>
                <a:lnTo>
                  <a:pt x="0" y="402156"/>
                </a:lnTo>
                <a:lnTo>
                  <a:pt x="1242617" y="402156"/>
                </a:lnTo>
                <a:lnTo>
                  <a:pt x="1242617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 rot="10160977">
            <a:off x="10629308" y="7417435"/>
            <a:ext cx="1242617" cy="402156"/>
          </a:xfrm>
          <a:custGeom>
            <a:avLst/>
            <a:gdLst/>
            <a:ahLst/>
            <a:cxnLst/>
            <a:rect l="l" t="t" r="r" b="b"/>
            <a:pathLst>
              <a:path w="1242617" h="402156">
                <a:moveTo>
                  <a:pt x="0" y="0"/>
                </a:moveTo>
                <a:lnTo>
                  <a:pt x="1242617" y="0"/>
                </a:lnTo>
                <a:lnTo>
                  <a:pt x="1242617" y="402156"/>
                </a:lnTo>
                <a:lnTo>
                  <a:pt x="0" y="40215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456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822310">
            <a:off x="2496007" y="2777862"/>
            <a:ext cx="6373166" cy="6965209"/>
          </a:xfrm>
          <a:custGeom>
            <a:avLst/>
            <a:gdLst/>
            <a:ahLst/>
            <a:cxnLst/>
            <a:rect l="l" t="t" r="r" b="b"/>
            <a:pathLst>
              <a:path w="6373166" h="6965209">
                <a:moveTo>
                  <a:pt x="0" y="0"/>
                </a:moveTo>
                <a:lnTo>
                  <a:pt x="6373166" y="0"/>
                </a:lnTo>
                <a:lnTo>
                  <a:pt x="6373166" y="6965209"/>
                </a:lnTo>
                <a:lnTo>
                  <a:pt x="0" y="696520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432404" y="6803976"/>
            <a:ext cx="3778135" cy="4114800"/>
          </a:xfrm>
          <a:custGeom>
            <a:avLst/>
            <a:gdLst/>
            <a:ahLst/>
            <a:cxnLst/>
            <a:rect l="l" t="t" r="r" b="b"/>
            <a:pathLst>
              <a:path w="3778135" h="4114800">
                <a:moveTo>
                  <a:pt x="0" y="0"/>
                </a:moveTo>
                <a:lnTo>
                  <a:pt x="3778134" y="0"/>
                </a:lnTo>
                <a:lnTo>
                  <a:pt x="377813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4579082" y="857250"/>
            <a:ext cx="9129835" cy="1264786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087"/>
              </a:lnSpc>
            </a:pPr>
            <a:r>
              <a:rPr lang="en-US" sz="7205" dirty="0">
                <a:solidFill>
                  <a:srgbClr val="FCCFA5"/>
                </a:solidFill>
                <a:latin typeface="Chromium One"/>
                <a:ea typeface="Chromium One"/>
                <a:cs typeface="Chromium One"/>
                <a:sym typeface="Chromium One"/>
              </a:rPr>
              <a:t>Project Objectives</a:t>
            </a:r>
          </a:p>
        </p:txBody>
      </p:sp>
      <p:sp>
        <p:nvSpPr>
          <p:cNvPr id="5" name="Freeform 5"/>
          <p:cNvSpPr/>
          <p:nvPr/>
        </p:nvSpPr>
        <p:spPr>
          <a:xfrm flipV="1">
            <a:off x="12605410" y="0"/>
            <a:ext cx="5682590" cy="6013322"/>
          </a:xfrm>
          <a:custGeom>
            <a:avLst/>
            <a:gdLst/>
            <a:ahLst/>
            <a:cxnLst/>
            <a:rect l="l" t="t" r="r" b="b"/>
            <a:pathLst>
              <a:path w="5682590" h="6013322">
                <a:moveTo>
                  <a:pt x="0" y="6013322"/>
                </a:moveTo>
                <a:lnTo>
                  <a:pt x="5682590" y="6013322"/>
                </a:lnTo>
                <a:lnTo>
                  <a:pt x="5682590" y="0"/>
                </a:lnTo>
                <a:lnTo>
                  <a:pt x="0" y="0"/>
                </a:lnTo>
                <a:lnTo>
                  <a:pt x="0" y="6013322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6" name="Freeform 6"/>
          <p:cNvSpPr/>
          <p:nvPr/>
        </p:nvSpPr>
        <p:spPr>
          <a:xfrm flipH="1" flipV="1">
            <a:off x="0" y="0"/>
            <a:ext cx="5682590" cy="6013322"/>
          </a:xfrm>
          <a:custGeom>
            <a:avLst/>
            <a:gdLst/>
            <a:ahLst/>
            <a:cxnLst/>
            <a:rect l="l" t="t" r="r" b="b"/>
            <a:pathLst>
              <a:path w="5682590" h="6013322">
                <a:moveTo>
                  <a:pt x="5682590" y="6013322"/>
                </a:moveTo>
                <a:lnTo>
                  <a:pt x="0" y="6013322"/>
                </a:lnTo>
                <a:lnTo>
                  <a:pt x="0" y="0"/>
                </a:lnTo>
                <a:lnTo>
                  <a:pt x="5682590" y="0"/>
                </a:lnTo>
                <a:lnTo>
                  <a:pt x="5682590" y="6013322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-897779">
            <a:off x="9782306" y="2504364"/>
            <a:ext cx="6373166" cy="6965209"/>
          </a:xfrm>
          <a:custGeom>
            <a:avLst/>
            <a:gdLst/>
            <a:ahLst/>
            <a:cxnLst/>
            <a:rect l="l" t="t" r="r" b="b"/>
            <a:pathLst>
              <a:path w="6373166" h="6965209">
                <a:moveTo>
                  <a:pt x="0" y="0"/>
                </a:moveTo>
                <a:lnTo>
                  <a:pt x="6373166" y="0"/>
                </a:lnTo>
                <a:lnTo>
                  <a:pt x="6373166" y="6965209"/>
                </a:lnTo>
                <a:lnTo>
                  <a:pt x="0" y="696520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6398933" y="8116848"/>
            <a:ext cx="1889067" cy="2057400"/>
          </a:xfrm>
          <a:custGeom>
            <a:avLst/>
            <a:gdLst/>
            <a:ahLst/>
            <a:cxnLst/>
            <a:rect l="l" t="t" r="r" b="b"/>
            <a:pathLst>
              <a:path w="1889067" h="2057400">
                <a:moveTo>
                  <a:pt x="0" y="0"/>
                </a:moveTo>
                <a:lnTo>
                  <a:pt x="1889067" y="0"/>
                </a:lnTo>
                <a:lnTo>
                  <a:pt x="1889067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 rot="-196979">
            <a:off x="2605547" y="3993946"/>
            <a:ext cx="4210838" cy="28322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4228" lvl="1" indent="-217114" algn="l">
              <a:lnSpc>
                <a:spcPts val="2815"/>
              </a:lnSpc>
              <a:buFont typeface="Arial"/>
              <a:buChar char="•"/>
            </a:pPr>
            <a:r>
              <a:rPr lang="en-US" sz="2011" b="1">
                <a:solidFill>
                  <a:srgbClr val="74564A"/>
                </a:solidFill>
                <a:latin typeface="Arima Madurai Bold"/>
                <a:ea typeface="Arima Madurai Bold"/>
                <a:cs typeface="Arima Madurai Bold"/>
                <a:sym typeface="Arima Madurai Bold"/>
              </a:rPr>
              <a:t>Understand and explore</a:t>
            </a:r>
          </a:p>
          <a:p>
            <a:pPr algn="l">
              <a:lnSpc>
                <a:spcPts val="2815"/>
              </a:lnSpc>
            </a:pPr>
            <a:r>
              <a:rPr lang="en-US" sz="2011" b="1">
                <a:solidFill>
                  <a:srgbClr val="74564A"/>
                </a:solidFill>
                <a:latin typeface="Arima Madurai Bold"/>
                <a:ea typeface="Arima Madurai Bold"/>
                <a:cs typeface="Arima Madurai Bold"/>
                <a:sym typeface="Arima Madurai Bold"/>
              </a:rPr>
              <a:t>         the Netflix dataset.</a:t>
            </a:r>
          </a:p>
          <a:p>
            <a:pPr marL="434228" lvl="1" indent="-217114" algn="l">
              <a:lnSpc>
                <a:spcPts val="2815"/>
              </a:lnSpc>
              <a:buFont typeface="Arial"/>
              <a:buChar char="•"/>
            </a:pPr>
            <a:r>
              <a:rPr lang="en-US" sz="2011" b="1">
                <a:solidFill>
                  <a:srgbClr val="74564A"/>
                </a:solidFill>
                <a:latin typeface="Arima Madurai Bold"/>
                <a:ea typeface="Arima Madurai Bold"/>
                <a:cs typeface="Arima Madurai Bold"/>
                <a:sym typeface="Arima Madurai Bold"/>
              </a:rPr>
              <a:t>Clean and prepare the data</a:t>
            </a:r>
          </a:p>
          <a:p>
            <a:pPr algn="l">
              <a:lnSpc>
                <a:spcPts val="2815"/>
              </a:lnSpc>
            </a:pPr>
            <a:r>
              <a:rPr lang="en-US" sz="2011" b="1">
                <a:solidFill>
                  <a:srgbClr val="74564A"/>
                </a:solidFill>
                <a:latin typeface="Arima Madurai Bold"/>
                <a:ea typeface="Arima Madurai Bold"/>
                <a:cs typeface="Arima Madurai Bold"/>
                <a:sym typeface="Arima Madurai Bold"/>
              </a:rPr>
              <a:t>        for analysis. </a:t>
            </a:r>
          </a:p>
          <a:p>
            <a:pPr marL="434228" lvl="1" indent="-217114" algn="l">
              <a:lnSpc>
                <a:spcPts val="2815"/>
              </a:lnSpc>
              <a:buFont typeface="Arial"/>
              <a:buChar char="•"/>
            </a:pPr>
            <a:r>
              <a:rPr lang="en-US" sz="2011" b="1">
                <a:solidFill>
                  <a:srgbClr val="74564A"/>
                </a:solidFill>
                <a:latin typeface="Arima Madurai Bold"/>
                <a:ea typeface="Arima Madurai Bold"/>
                <a:cs typeface="Arima Madurai Bold"/>
                <a:sym typeface="Arima Madurai Bold"/>
              </a:rPr>
              <a:t>Analyze Movies and TV Shows.</a:t>
            </a:r>
          </a:p>
          <a:p>
            <a:pPr marL="434228" lvl="1" indent="-217114" algn="l">
              <a:lnSpc>
                <a:spcPts val="2815"/>
              </a:lnSpc>
              <a:buFont typeface="Arial"/>
              <a:buChar char="•"/>
            </a:pPr>
            <a:r>
              <a:rPr lang="en-US" sz="2011" b="1">
                <a:solidFill>
                  <a:srgbClr val="74564A"/>
                </a:solidFill>
                <a:latin typeface="Arima Madurai Bold"/>
                <a:ea typeface="Arima Madurai Bold"/>
                <a:cs typeface="Arima Madurai Bold"/>
                <a:sym typeface="Arima Madurai Bold"/>
              </a:rPr>
              <a:t>Examine content distribution </a:t>
            </a:r>
          </a:p>
          <a:p>
            <a:pPr algn="l">
              <a:lnSpc>
                <a:spcPts val="2815"/>
              </a:lnSpc>
            </a:pPr>
            <a:r>
              <a:rPr lang="en-US" sz="2011" b="1">
                <a:solidFill>
                  <a:srgbClr val="74564A"/>
                </a:solidFill>
                <a:latin typeface="Arima Madurai Bold"/>
                <a:ea typeface="Arima Madurai Bold"/>
                <a:cs typeface="Arima Madurai Bold"/>
                <a:sym typeface="Arima Madurai Bold"/>
              </a:rPr>
              <a:t>       across countries.</a:t>
            </a:r>
          </a:p>
          <a:p>
            <a:pPr algn="ctr">
              <a:lnSpc>
                <a:spcPts val="2815"/>
              </a:lnSpc>
            </a:pPr>
            <a:endParaRPr lang="en-US" sz="2011" b="1">
              <a:solidFill>
                <a:srgbClr val="74564A"/>
              </a:solidFill>
              <a:latin typeface="Arima Madurai Bold"/>
              <a:ea typeface="Arima Madurai Bold"/>
              <a:cs typeface="Arima Madurai Bold"/>
              <a:sym typeface="Arima Madurai Bold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761617" y="2276589"/>
            <a:ext cx="6952337" cy="5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31"/>
              </a:lnSpc>
              <a:spcBef>
                <a:spcPct val="0"/>
              </a:spcBef>
            </a:pPr>
            <a:r>
              <a:rPr lang="en-US" sz="3236">
                <a:solidFill>
                  <a:srgbClr val="EDC095"/>
                </a:solidFill>
                <a:latin typeface="Pacifico"/>
                <a:ea typeface="Pacifico"/>
                <a:cs typeface="Pacifico"/>
                <a:sym typeface="Pacifico"/>
              </a:rPr>
              <a:t>The main objectives of this project are:</a:t>
            </a:r>
          </a:p>
        </p:txBody>
      </p:sp>
      <p:sp>
        <p:nvSpPr>
          <p:cNvPr id="11" name="TextBox 11"/>
          <p:cNvSpPr txBox="1"/>
          <p:nvPr/>
        </p:nvSpPr>
        <p:spPr>
          <a:xfrm rot="-1226042">
            <a:off x="4346385" y="6585529"/>
            <a:ext cx="4694635" cy="2589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2640" lvl="1" indent="-226320" algn="l">
              <a:lnSpc>
                <a:spcPts val="2935"/>
              </a:lnSpc>
              <a:buFont typeface="Arial"/>
              <a:buChar char="•"/>
            </a:pPr>
            <a:r>
              <a:rPr lang="en-US" sz="2096" b="1">
                <a:solidFill>
                  <a:srgbClr val="74564A"/>
                </a:solidFill>
                <a:latin typeface="Arima Madurai Bold"/>
                <a:ea typeface="Arima Madurai Bold"/>
                <a:cs typeface="Arima Madurai Bold"/>
                <a:sym typeface="Arima Madurai Bold"/>
              </a:rPr>
              <a:t>Analyze content ratings and categories.</a:t>
            </a:r>
          </a:p>
          <a:p>
            <a:pPr marL="452640" lvl="1" indent="-226320" algn="l">
              <a:lnSpc>
                <a:spcPts val="2935"/>
              </a:lnSpc>
              <a:buFont typeface="Arial"/>
              <a:buChar char="•"/>
            </a:pPr>
            <a:r>
              <a:rPr lang="en-US" sz="2096" b="1">
                <a:solidFill>
                  <a:srgbClr val="74564A"/>
                </a:solidFill>
                <a:latin typeface="Arima Madurai Bold"/>
                <a:ea typeface="Arima Madurai Bold"/>
                <a:cs typeface="Arima Madurai Bold"/>
                <a:sym typeface="Arima Madurai Bold"/>
              </a:rPr>
              <a:t>Study content distribution </a:t>
            </a:r>
          </a:p>
          <a:p>
            <a:pPr algn="l">
              <a:lnSpc>
                <a:spcPts val="2935"/>
              </a:lnSpc>
            </a:pPr>
            <a:r>
              <a:rPr lang="en-US" sz="2096" b="1">
                <a:solidFill>
                  <a:srgbClr val="74564A"/>
                </a:solidFill>
                <a:latin typeface="Arima Madurai Bold"/>
                <a:ea typeface="Arima Madurai Bold"/>
                <a:cs typeface="Arima Madurai Bold"/>
                <a:sym typeface="Arima Madurai Bold"/>
              </a:rPr>
              <a:t>        across release years.</a:t>
            </a:r>
          </a:p>
          <a:p>
            <a:pPr marL="452640" lvl="1" indent="-226320" algn="l">
              <a:lnSpc>
                <a:spcPts val="2935"/>
              </a:lnSpc>
              <a:buFont typeface="Arial"/>
              <a:buChar char="•"/>
            </a:pPr>
            <a:r>
              <a:rPr lang="en-US" sz="2096" b="1">
                <a:solidFill>
                  <a:srgbClr val="74564A"/>
                </a:solidFill>
                <a:latin typeface="Arima Madurai Bold"/>
                <a:ea typeface="Arima Madurai Bold"/>
                <a:cs typeface="Arima Madurai Bold"/>
                <a:sym typeface="Arima Madurai Bold"/>
              </a:rPr>
              <a:t>Use SQL to extract and analyze data efficiently.</a:t>
            </a:r>
          </a:p>
          <a:p>
            <a:pPr algn="ctr">
              <a:lnSpc>
                <a:spcPts val="2935"/>
              </a:lnSpc>
            </a:pPr>
            <a:endParaRPr lang="en-US" sz="2096" b="1">
              <a:solidFill>
                <a:srgbClr val="74564A"/>
              </a:solidFill>
              <a:latin typeface="Arima Madurai Bold"/>
              <a:ea typeface="Arima Madurai Bold"/>
              <a:cs typeface="Arima Madurai Bold"/>
              <a:sym typeface="Arima Madurai Bold"/>
            </a:endParaRPr>
          </a:p>
        </p:txBody>
      </p:sp>
      <p:sp>
        <p:nvSpPr>
          <p:cNvPr id="12" name="TextBox 12"/>
          <p:cNvSpPr txBox="1"/>
          <p:nvPr/>
        </p:nvSpPr>
        <p:spPr>
          <a:xfrm rot="-243618">
            <a:off x="9911017" y="3821702"/>
            <a:ext cx="4694635" cy="29602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2640" lvl="1" indent="-226320" algn="l">
              <a:lnSpc>
                <a:spcPts val="2935"/>
              </a:lnSpc>
              <a:buFont typeface="Arial"/>
              <a:buChar char="•"/>
            </a:pPr>
            <a:r>
              <a:rPr lang="en-US" sz="2096" b="1">
                <a:solidFill>
                  <a:srgbClr val="74564A"/>
                </a:solidFill>
                <a:latin typeface="Arima Madurai Bold"/>
                <a:ea typeface="Arima Madurai Bold"/>
                <a:cs typeface="Arima Madurai Bold"/>
                <a:sym typeface="Arima Madurai Bold"/>
              </a:rPr>
              <a:t>Use Python for data exploration and analysis.</a:t>
            </a:r>
          </a:p>
          <a:p>
            <a:pPr marL="452640" lvl="1" indent="-226320" algn="l">
              <a:lnSpc>
                <a:spcPts val="2935"/>
              </a:lnSpc>
              <a:buFont typeface="Arial"/>
              <a:buChar char="•"/>
            </a:pPr>
            <a:r>
              <a:rPr lang="en-US" sz="2096" b="1">
                <a:solidFill>
                  <a:srgbClr val="74564A"/>
                </a:solidFill>
                <a:latin typeface="Arima Madurai Bold"/>
                <a:ea typeface="Arima Madurai Bold"/>
                <a:cs typeface="Arima Madurai Bold"/>
                <a:sym typeface="Arima Madurai Bold"/>
              </a:rPr>
              <a:t>Create interactive dashboards using Power BI.</a:t>
            </a:r>
          </a:p>
          <a:p>
            <a:pPr marL="452640" lvl="1" indent="-226320" algn="l">
              <a:lnSpc>
                <a:spcPts val="2935"/>
              </a:lnSpc>
              <a:buFont typeface="Arial"/>
              <a:buChar char="•"/>
            </a:pPr>
            <a:r>
              <a:rPr lang="en-US" sz="2096" b="1">
                <a:solidFill>
                  <a:srgbClr val="74564A"/>
                </a:solidFill>
                <a:latin typeface="Arima Madurai Bold"/>
                <a:ea typeface="Arima Madurai Bold"/>
                <a:cs typeface="Arima Madurai Bold"/>
                <a:sym typeface="Arima Madurai Bold"/>
              </a:rPr>
              <a:t>Use Tableau for additional </a:t>
            </a:r>
          </a:p>
          <a:p>
            <a:pPr algn="l">
              <a:lnSpc>
                <a:spcPts val="2935"/>
              </a:lnSpc>
            </a:pPr>
            <a:r>
              <a:rPr lang="en-US" sz="2096" b="1">
                <a:solidFill>
                  <a:srgbClr val="74564A"/>
                </a:solidFill>
                <a:latin typeface="Arima Madurai Bold"/>
                <a:ea typeface="Arima Madurai Bold"/>
                <a:cs typeface="Arima Madurai Bold"/>
                <a:sym typeface="Arima Madurai Bold"/>
              </a:rPr>
              <a:t>        data visualization.</a:t>
            </a:r>
          </a:p>
          <a:p>
            <a:pPr algn="l">
              <a:lnSpc>
                <a:spcPts val="2935"/>
              </a:lnSpc>
            </a:pPr>
            <a:endParaRPr lang="en-US" sz="2096" b="1">
              <a:solidFill>
                <a:srgbClr val="74564A"/>
              </a:solidFill>
              <a:latin typeface="Arima Madurai Bold"/>
              <a:ea typeface="Arima Madurai Bold"/>
              <a:cs typeface="Arima Madurai Bold"/>
              <a:sym typeface="Arima Madurai Bold"/>
            </a:endParaRPr>
          </a:p>
          <a:p>
            <a:pPr algn="ctr">
              <a:lnSpc>
                <a:spcPts val="2935"/>
              </a:lnSpc>
            </a:pPr>
            <a:endParaRPr lang="en-US" sz="2096" b="1">
              <a:solidFill>
                <a:srgbClr val="74564A"/>
              </a:solidFill>
              <a:latin typeface="Arima Madurai Bold"/>
              <a:ea typeface="Arima Madurai Bold"/>
              <a:cs typeface="Arima Madurai Bold"/>
              <a:sym typeface="Arima Madurai Bold"/>
            </a:endParaRPr>
          </a:p>
        </p:txBody>
      </p:sp>
      <p:sp>
        <p:nvSpPr>
          <p:cNvPr id="13" name="TextBox 13"/>
          <p:cNvSpPr txBox="1"/>
          <p:nvPr/>
        </p:nvSpPr>
        <p:spPr>
          <a:xfrm rot="-1240679">
            <a:off x="11709916" y="6453378"/>
            <a:ext cx="4658485" cy="1931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6120" lvl="1" indent="-238060" algn="l">
              <a:lnSpc>
                <a:spcPts val="3087"/>
              </a:lnSpc>
              <a:buFont typeface="Arial"/>
              <a:buChar char="•"/>
            </a:pPr>
            <a:r>
              <a:rPr lang="en-US" sz="2205" b="1">
                <a:solidFill>
                  <a:srgbClr val="74564A"/>
                </a:solidFill>
                <a:latin typeface="Arima Madurai Bold"/>
                <a:ea typeface="Arima Madurai Bold"/>
                <a:cs typeface="Arima Madurai Bold"/>
                <a:sym typeface="Arima Madurai Bold"/>
              </a:rPr>
              <a:t>Identify important patterns </a:t>
            </a:r>
          </a:p>
          <a:p>
            <a:pPr algn="l">
              <a:lnSpc>
                <a:spcPts val="3087"/>
              </a:lnSpc>
            </a:pPr>
            <a:r>
              <a:rPr lang="en-US" sz="2205" b="1">
                <a:solidFill>
                  <a:srgbClr val="74564A"/>
                </a:solidFill>
                <a:latin typeface="Arima Madurai Bold"/>
                <a:ea typeface="Arima Madurai Bold"/>
                <a:cs typeface="Arima Madurai Bold"/>
                <a:sym typeface="Arima Madurai Bold"/>
              </a:rPr>
              <a:t>        and trends.</a:t>
            </a:r>
          </a:p>
          <a:p>
            <a:pPr marL="476120" lvl="1" indent="-238060" algn="l">
              <a:lnSpc>
                <a:spcPts val="3087"/>
              </a:lnSpc>
              <a:buFont typeface="Arial"/>
              <a:buChar char="•"/>
            </a:pPr>
            <a:r>
              <a:rPr lang="en-US" sz="2205" b="1">
                <a:solidFill>
                  <a:srgbClr val="74564A"/>
                </a:solidFill>
                <a:latin typeface="Arima Madurai Bold"/>
                <a:ea typeface="Arima Madurai Bold"/>
                <a:cs typeface="Arima Madurai Bold"/>
                <a:sym typeface="Arima Madurai Bold"/>
              </a:rPr>
              <a:t>Translate analytical findings </a:t>
            </a:r>
          </a:p>
          <a:p>
            <a:pPr algn="l">
              <a:lnSpc>
                <a:spcPts val="3087"/>
              </a:lnSpc>
            </a:pPr>
            <a:r>
              <a:rPr lang="en-US" sz="2205" b="1">
                <a:solidFill>
                  <a:srgbClr val="74564A"/>
                </a:solidFill>
                <a:latin typeface="Arima Madurai Bold"/>
                <a:ea typeface="Arima Madurai Bold"/>
                <a:cs typeface="Arima Madurai Bold"/>
                <a:sym typeface="Arima Madurai Bold"/>
              </a:rPr>
              <a:t>        into useful recommendations.</a:t>
            </a:r>
          </a:p>
          <a:p>
            <a:pPr algn="ctr">
              <a:lnSpc>
                <a:spcPts val="3087"/>
              </a:lnSpc>
            </a:pPr>
            <a:endParaRPr lang="en-US" sz="2205" b="1">
              <a:solidFill>
                <a:srgbClr val="74564A"/>
              </a:solidFill>
              <a:latin typeface="Arima Madurai Bold"/>
              <a:ea typeface="Arima Madurai Bold"/>
              <a:cs typeface="Arima Madurai Bold"/>
              <a:sym typeface="Arima Madurai Bold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0522" y="5005552"/>
            <a:ext cx="18288000" cy="7671816"/>
          </a:xfrm>
          <a:custGeom>
            <a:avLst/>
            <a:gdLst/>
            <a:ahLst/>
            <a:cxnLst/>
            <a:rect l="l" t="t" r="r" b="b"/>
            <a:pathLst>
              <a:path w="18288000" h="7671816">
                <a:moveTo>
                  <a:pt x="0" y="0"/>
                </a:moveTo>
                <a:lnTo>
                  <a:pt x="18288000" y="0"/>
                </a:lnTo>
                <a:lnTo>
                  <a:pt x="18288000" y="7671816"/>
                </a:lnTo>
                <a:lnTo>
                  <a:pt x="0" y="767181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1086384" y="-177593"/>
            <a:ext cx="4230168" cy="4114800"/>
          </a:xfrm>
          <a:custGeom>
            <a:avLst/>
            <a:gdLst/>
            <a:ahLst/>
            <a:cxnLst/>
            <a:rect l="l" t="t" r="r" b="b"/>
            <a:pathLst>
              <a:path w="4230168" h="4114800">
                <a:moveTo>
                  <a:pt x="0" y="0"/>
                </a:moveTo>
                <a:lnTo>
                  <a:pt x="4230168" y="0"/>
                </a:lnTo>
                <a:lnTo>
                  <a:pt x="423016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5616493" y="462644"/>
            <a:ext cx="7055014" cy="1417163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29"/>
              </a:lnSpc>
            </a:pPr>
            <a:r>
              <a:rPr lang="en-US" sz="8021" dirty="0">
                <a:solidFill>
                  <a:srgbClr val="74564A"/>
                </a:solidFill>
                <a:latin typeface="Chromium One"/>
                <a:ea typeface="Chromium One"/>
                <a:cs typeface="Chromium One"/>
                <a:sym typeface="Chromium One"/>
              </a:rPr>
              <a:t>Dataset</a:t>
            </a:r>
          </a:p>
        </p:txBody>
      </p:sp>
      <p:sp>
        <p:nvSpPr>
          <p:cNvPr id="5" name="Freeform 5"/>
          <p:cNvSpPr/>
          <p:nvPr/>
        </p:nvSpPr>
        <p:spPr>
          <a:xfrm>
            <a:off x="15144216" y="-177593"/>
            <a:ext cx="4230168" cy="4114800"/>
          </a:xfrm>
          <a:custGeom>
            <a:avLst/>
            <a:gdLst/>
            <a:ahLst/>
            <a:cxnLst/>
            <a:rect l="l" t="t" r="r" b="b"/>
            <a:pathLst>
              <a:path w="4230168" h="4114800">
                <a:moveTo>
                  <a:pt x="0" y="0"/>
                </a:moveTo>
                <a:lnTo>
                  <a:pt x="4230168" y="0"/>
                </a:lnTo>
                <a:lnTo>
                  <a:pt x="423016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5095393" y="3222394"/>
            <a:ext cx="9342029" cy="62837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477"/>
              </a:lnSpc>
            </a:pPr>
            <a:r>
              <a:rPr lang="en-US" sz="2483" dirty="0">
                <a:solidFill>
                  <a:srgbClr val="975A43"/>
                </a:solidFill>
                <a:latin typeface="Pacifico"/>
                <a:ea typeface="Pacifico"/>
                <a:cs typeface="Pacifico"/>
                <a:sym typeface="Pacifico"/>
              </a:rPr>
              <a:t>       Column                                  Description</a:t>
            </a:r>
          </a:p>
          <a:p>
            <a:pPr marL="536273" lvl="1" indent="-268136" algn="l">
              <a:lnSpc>
                <a:spcPts val="3477"/>
              </a:lnSpc>
              <a:buFont typeface="Arial"/>
              <a:buChar char="•"/>
            </a:pPr>
            <a:r>
              <a:rPr lang="en-US" sz="2483" b="1" dirty="0" err="1">
                <a:solidFill>
                  <a:srgbClr val="975A43"/>
                </a:solidFill>
                <a:latin typeface="Arima Madurai Bold"/>
                <a:ea typeface="Arima Madurai Bold"/>
                <a:cs typeface="Arima Madurai Bold"/>
                <a:sym typeface="Arima Madurai Bold"/>
              </a:rPr>
              <a:t>show_id</a:t>
            </a:r>
            <a:r>
              <a:rPr lang="en-US" sz="2483" b="1" dirty="0">
                <a:solidFill>
                  <a:srgbClr val="975A43"/>
                </a:solidFill>
                <a:latin typeface="Arima Madurai Bold"/>
                <a:ea typeface="Arima Madurai Bold"/>
                <a:cs typeface="Arima Madurai Bold"/>
                <a:sym typeface="Arima Madurai Bold"/>
              </a:rPr>
              <a:t>                              Unique ID for each title</a:t>
            </a:r>
          </a:p>
          <a:p>
            <a:pPr marL="536273" lvl="1" indent="-268136" algn="l">
              <a:lnSpc>
                <a:spcPts val="3477"/>
              </a:lnSpc>
              <a:buFont typeface="Arial"/>
              <a:buChar char="•"/>
            </a:pPr>
            <a:r>
              <a:rPr lang="en-US" sz="2483" b="1" dirty="0">
                <a:solidFill>
                  <a:srgbClr val="975A43"/>
                </a:solidFill>
                <a:latin typeface="Arima Madurai Bold"/>
                <a:ea typeface="Arima Madurai Bold"/>
                <a:cs typeface="Arima Madurai Bold"/>
                <a:sym typeface="Arima Madurai Bold"/>
              </a:rPr>
              <a:t>type                                          Movie or TV Show</a:t>
            </a:r>
          </a:p>
          <a:p>
            <a:pPr marL="536273" lvl="1" indent="-268136" algn="l">
              <a:lnSpc>
                <a:spcPts val="3477"/>
              </a:lnSpc>
              <a:buFont typeface="Arial"/>
              <a:buChar char="•"/>
            </a:pPr>
            <a:r>
              <a:rPr lang="en-US" sz="2483" b="1" dirty="0">
                <a:solidFill>
                  <a:srgbClr val="975A43"/>
                </a:solidFill>
                <a:latin typeface="Arima Madurai Bold"/>
                <a:ea typeface="Arima Madurai Bold"/>
                <a:cs typeface="Arima Madurai Bold"/>
                <a:sym typeface="Arima Madurai Bold"/>
              </a:rPr>
              <a:t>title                                         Name of the content</a:t>
            </a:r>
          </a:p>
          <a:p>
            <a:pPr marL="536273" lvl="1" indent="-268136" algn="l">
              <a:lnSpc>
                <a:spcPts val="3477"/>
              </a:lnSpc>
              <a:buFont typeface="Arial"/>
              <a:buChar char="•"/>
            </a:pPr>
            <a:r>
              <a:rPr lang="en-US" sz="2483" b="1" dirty="0">
                <a:solidFill>
                  <a:srgbClr val="975A43"/>
                </a:solidFill>
                <a:latin typeface="Arima Madurai Bold"/>
                <a:ea typeface="Arima Madurai Bold"/>
                <a:cs typeface="Arima Madurai Bold"/>
                <a:sym typeface="Arima Madurai Bold"/>
              </a:rPr>
              <a:t>director                              </a:t>
            </a:r>
            <a:r>
              <a:rPr lang="en-US" sz="2483" b="1" dirty="0" err="1">
                <a:solidFill>
                  <a:srgbClr val="975A43"/>
                </a:solidFill>
                <a:latin typeface="Arima Madurai Bold"/>
                <a:ea typeface="Arima Madurai Bold"/>
                <a:cs typeface="Arima Madurai Bold"/>
                <a:sym typeface="Arima Madurai Bold"/>
              </a:rPr>
              <a:t>Director</a:t>
            </a:r>
            <a:r>
              <a:rPr lang="en-US" sz="2483" b="1" dirty="0">
                <a:solidFill>
                  <a:srgbClr val="975A43"/>
                </a:solidFill>
                <a:latin typeface="Arima Madurai Bold"/>
                <a:ea typeface="Arima Madurai Bold"/>
                <a:cs typeface="Arima Madurai Bold"/>
                <a:sym typeface="Arima Madurai Bold"/>
              </a:rPr>
              <a:t> of the content</a:t>
            </a:r>
          </a:p>
          <a:p>
            <a:pPr marL="536273" lvl="1" indent="-268136" algn="l">
              <a:lnSpc>
                <a:spcPts val="3477"/>
              </a:lnSpc>
              <a:buFont typeface="Arial"/>
              <a:buChar char="•"/>
            </a:pPr>
            <a:r>
              <a:rPr lang="en-US" sz="2483" b="1" dirty="0">
                <a:solidFill>
                  <a:srgbClr val="975A43"/>
                </a:solidFill>
                <a:latin typeface="Arima Madurai Bold"/>
                <a:ea typeface="Arima Madurai Bold"/>
                <a:cs typeface="Arima Madurai Bold"/>
                <a:sym typeface="Arima Madurai Bold"/>
              </a:rPr>
              <a:t>cast                                         Actors and actresses</a:t>
            </a:r>
          </a:p>
          <a:p>
            <a:pPr marL="536273" lvl="1" indent="-268136" algn="l">
              <a:lnSpc>
                <a:spcPts val="3477"/>
              </a:lnSpc>
              <a:buFont typeface="Arial"/>
              <a:buChar char="•"/>
            </a:pPr>
            <a:r>
              <a:rPr lang="en-US" sz="2483" b="1" dirty="0">
                <a:solidFill>
                  <a:srgbClr val="975A43"/>
                </a:solidFill>
                <a:latin typeface="Arima Madurai Bold"/>
                <a:ea typeface="Arima Madurai Bold"/>
                <a:cs typeface="Arima Madurai Bold"/>
                <a:sym typeface="Arima Madurai Bold"/>
              </a:rPr>
              <a:t>country                               </a:t>
            </a:r>
            <a:r>
              <a:rPr lang="en-US" sz="2483" b="1" dirty="0" err="1">
                <a:solidFill>
                  <a:srgbClr val="975A43"/>
                </a:solidFill>
                <a:latin typeface="Arima Madurai Bold"/>
                <a:ea typeface="Arima Madurai Bold"/>
                <a:cs typeface="Arima Madurai Bold"/>
                <a:sym typeface="Arima Madurai Bold"/>
              </a:rPr>
              <a:t>Country</a:t>
            </a:r>
            <a:r>
              <a:rPr lang="en-US" sz="2483" b="1" dirty="0">
                <a:solidFill>
                  <a:srgbClr val="975A43"/>
                </a:solidFill>
                <a:latin typeface="Arima Madurai Bold"/>
                <a:ea typeface="Arima Madurai Bold"/>
                <a:cs typeface="Arima Madurai Bold"/>
                <a:sym typeface="Arima Madurai Bold"/>
              </a:rPr>
              <a:t> of production</a:t>
            </a:r>
          </a:p>
          <a:p>
            <a:pPr marL="536273" lvl="1" indent="-268136" algn="l">
              <a:lnSpc>
                <a:spcPts val="3477"/>
              </a:lnSpc>
              <a:buFont typeface="Arial"/>
              <a:buChar char="•"/>
            </a:pPr>
            <a:r>
              <a:rPr lang="en-US" sz="2483" b="1" dirty="0" err="1">
                <a:solidFill>
                  <a:srgbClr val="975A43"/>
                </a:solidFill>
                <a:latin typeface="Arima Madurai Bold"/>
                <a:ea typeface="Arima Madurai Bold"/>
                <a:cs typeface="Arima Madurai Bold"/>
                <a:sym typeface="Arima Madurai Bold"/>
              </a:rPr>
              <a:t>date_added</a:t>
            </a:r>
            <a:r>
              <a:rPr lang="en-US" sz="2483" b="1" dirty="0">
                <a:solidFill>
                  <a:srgbClr val="975A43"/>
                </a:solidFill>
                <a:latin typeface="Arima Madurai Bold"/>
                <a:ea typeface="Arima Madurai Bold"/>
                <a:cs typeface="Arima Madurai Bold"/>
                <a:sym typeface="Arima Madurai Bold"/>
              </a:rPr>
              <a:t>                   Date the content was added</a:t>
            </a:r>
          </a:p>
          <a:p>
            <a:pPr marL="536273" lvl="1" indent="-268136" algn="l">
              <a:lnSpc>
                <a:spcPts val="3477"/>
              </a:lnSpc>
              <a:buFont typeface="Arial"/>
              <a:buChar char="•"/>
            </a:pPr>
            <a:r>
              <a:rPr lang="en-US" sz="2483" b="1" dirty="0" err="1">
                <a:solidFill>
                  <a:srgbClr val="975A43"/>
                </a:solidFill>
                <a:latin typeface="Arima Madurai Bold"/>
                <a:ea typeface="Arima Madurai Bold"/>
                <a:cs typeface="Arima Madurai Bold"/>
                <a:sym typeface="Arima Madurai Bold"/>
              </a:rPr>
              <a:t>release_year</a:t>
            </a:r>
            <a:r>
              <a:rPr lang="en-US" sz="2483" b="1" dirty="0">
                <a:solidFill>
                  <a:srgbClr val="975A43"/>
                </a:solidFill>
                <a:latin typeface="Arima Madurai Bold"/>
                <a:ea typeface="Arima Madurai Bold"/>
                <a:cs typeface="Arima Madurai Bold"/>
                <a:sym typeface="Arima Madurai Bold"/>
              </a:rPr>
              <a:t>                        Original release year</a:t>
            </a:r>
          </a:p>
          <a:p>
            <a:pPr marL="536273" lvl="1" indent="-268136" algn="l">
              <a:lnSpc>
                <a:spcPts val="3477"/>
              </a:lnSpc>
              <a:buFont typeface="Arial"/>
              <a:buChar char="•"/>
            </a:pPr>
            <a:r>
              <a:rPr lang="en-US" sz="2483" b="1" dirty="0">
                <a:solidFill>
                  <a:srgbClr val="975A43"/>
                </a:solidFill>
                <a:latin typeface="Arima Madurai Bold"/>
                <a:ea typeface="Arima Madurai Bold"/>
                <a:cs typeface="Arima Madurai Bold"/>
                <a:sym typeface="Arima Madurai Bold"/>
              </a:rPr>
              <a:t>rating                                           Content rating</a:t>
            </a:r>
          </a:p>
          <a:p>
            <a:pPr marL="536273" lvl="1" indent="-268136" algn="l">
              <a:lnSpc>
                <a:spcPts val="3477"/>
              </a:lnSpc>
              <a:buFont typeface="Arial"/>
              <a:buChar char="•"/>
            </a:pPr>
            <a:r>
              <a:rPr lang="en-US" sz="2483" b="1" dirty="0">
                <a:solidFill>
                  <a:srgbClr val="975A43"/>
                </a:solidFill>
                <a:latin typeface="Arima Madurai Bold"/>
                <a:ea typeface="Arima Madurai Bold"/>
                <a:cs typeface="Arima Madurai Bold"/>
                <a:sym typeface="Arima Madurai Bold"/>
              </a:rPr>
              <a:t>duration                 Movie duration or number of seasons</a:t>
            </a:r>
          </a:p>
          <a:p>
            <a:pPr marL="536273" lvl="1" indent="-268136" algn="l">
              <a:lnSpc>
                <a:spcPts val="3477"/>
              </a:lnSpc>
              <a:buFont typeface="Arial"/>
              <a:buChar char="•"/>
            </a:pPr>
            <a:r>
              <a:rPr lang="en-US" sz="2483" b="1" dirty="0" err="1">
                <a:solidFill>
                  <a:srgbClr val="975A43"/>
                </a:solidFill>
                <a:latin typeface="Arima Madurai Bold"/>
                <a:ea typeface="Arima Madurai Bold"/>
                <a:cs typeface="Arima Madurai Bold"/>
                <a:sym typeface="Arima Madurai Bold"/>
              </a:rPr>
              <a:t>listed_in</a:t>
            </a:r>
            <a:r>
              <a:rPr lang="en-US" sz="2483" b="1" dirty="0">
                <a:solidFill>
                  <a:srgbClr val="975A43"/>
                </a:solidFill>
                <a:latin typeface="Arima Madurai Bold"/>
                <a:ea typeface="Arima Madurai Bold"/>
                <a:cs typeface="Arima Madurai Bold"/>
                <a:sym typeface="Arima Madurai Bold"/>
              </a:rPr>
              <a:t>                                      Genre / category</a:t>
            </a:r>
          </a:p>
          <a:p>
            <a:pPr marL="536273" lvl="1" indent="-268136" algn="l">
              <a:lnSpc>
                <a:spcPts val="3477"/>
              </a:lnSpc>
              <a:buFont typeface="Arial"/>
              <a:buChar char="•"/>
            </a:pPr>
            <a:r>
              <a:rPr lang="en-US" sz="2483" b="1" dirty="0">
                <a:solidFill>
                  <a:srgbClr val="975A43"/>
                </a:solidFill>
                <a:latin typeface="Arima Madurai Bold"/>
                <a:ea typeface="Arima Madurai Bold"/>
                <a:cs typeface="Arima Madurai Bold"/>
                <a:sym typeface="Arima Madurai Bold"/>
              </a:rPr>
              <a:t>description                 Short description of the content</a:t>
            </a:r>
          </a:p>
          <a:p>
            <a:pPr algn="ctr">
              <a:lnSpc>
                <a:spcPts val="3477"/>
              </a:lnSpc>
            </a:pPr>
            <a:endParaRPr lang="en-US" sz="2483" b="1" dirty="0">
              <a:solidFill>
                <a:srgbClr val="975A43"/>
              </a:solidFill>
              <a:latin typeface="Arima Madurai Bold"/>
              <a:ea typeface="Arima Madurai Bold"/>
              <a:cs typeface="Arima Madurai Bold"/>
              <a:sym typeface="Arima Madurai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2873268" y="2024192"/>
            <a:ext cx="8043943" cy="3449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21"/>
              </a:lnSpc>
            </a:pPr>
            <a:r>
              <a:rPr lang="en-US" sz="2015" b="1">
                <a:solidFill>
                  <a:srgbClr val="9F7969"/>
                </a:solidFill>
                <a:latin typeface="Arima Madurai Bold"/>
                <a:ea typeface="Arima Madurai Bold"/>
                <a:cs typeface="Arima Madurai Bold"/>
                <a:sym typeface="Arima Madurai Bold"/>
              </a:rPr>
              <a:t>The dataset contains information about Netflix Movies and TV Shows.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940699" y="2614910"/>
            <a:ext cx="4309386" cy="464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33"/>
              </a:lnSpc>
            </a:pPr>
            <a:r>
              <a:rPr lang="en-US" sz="2738" b="1">
                <a:solidFill>
                  <a:srgbClr val="9F7969"/>
                </a:solidFill>
                <a:latin typeface="Arima Madurai Bold"/>
                <a:ea typeface="Arima Madurai Bold"/>
                <a:cs typeface="Arima Madurai Bold"/>
                <a:sym typeface="Arima Madurai Bold"/>
              </a:rPr>
              <a:t>Main Dataset Columns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456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386481" y="7306081"/>
            <a:ext cx="9901519" cy="3467277"/>
          </a:xfrm>
          <a:custGeom>
            <a:avLst/>
            <a:gdLst/>
            <a:ahLst/>
            <a:cxnLst/>
            <a:rect l="l" t="t" r="r" b="b"/>
            <a:pathLst>
              <a:path w="9901519" h="3467277">
                <a:moveTo>
                  <a:pt x="0" y="0"/>
                </a:moveTo>
                <a:lnTo>
                  <a:pt x="9901519" y="0"/>
                </a:lnTo>
                <a:lnTo>
                  <a:pt x="9901519" y="3467277"/>
                </a:lnTo>
                <a:lnTo>
                  <a:pt x="0" y="346727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1043773" y="0"/>
            <a:ext cx="4144945" cy="4114800"/>
          </a:xfrm>
          <a:custGeom>
            <a:avLst/>
            <a:gdLst/>
            <a:ahLst/>
            <a:cxnLst/>
            <a:rect l="l" t="t" r="r" b="b"/>
            <a:pathLst>
              <a:path w="4144945" h="4114800">
                <a:moveTo>
                  <a:pt x="0" y="0"/>
                </a:moveTo>
                <a:lnTo>
                  <a:pt x="4144946" y="0"/>
                </a:lnTo>
                <a:lnTo>
                  <a:pt x="414494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5876384" y="0"/>
            <a:ext cx="2411616" cy="4459074"/>
          </a:xfrm>
          <a:custGeom>
            <a:avLst/>
            <a:gdLst/>
            <a:ahLst/>
            <a:cxnLst/>
            <a:rect l="l" t="t" r="r" b="b"/>
            <a:pathLst>
              <a:path w="2411616" h="4459074">
                <a:moveTo>
                  <a:pt x="0" y="0"/>
                </a:moveTo>
                <a:lnTo>
                  <a:pt x="2411616" y="0"/>
                </a:lnTo>
                <a:lnTo>
                  <a:pt x="2411616" y="4459074"/>
                </a:lnTo>
                <a:lnTo>
                  <a:pt x="0" y="445907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-781885" y="7710036"/>
            <a:ext cx="3621170" cy="3096528"/>
          </a:xfrm>
          <a:custGeom>
            <a:avLst/>
            <a:gdLst/>
            <a:ahLst/>
            <a:cxnLst/>
            <a:rect l="l" t="t" r="r" b="b"/>
            <a:pathLst>
              <a:path w="3621170" h="3096528">
                <a:moveTo>
                  <a:pt x="0" y="0"/>
                </a:moveTo>
                <a:lnTo>
                  <a:pt x="3621170" y="0"/>
                </a:lnTo>
                <a:lnTo>
                  <a:pt x="3621170" y="3096528"/>
                </a:lnTo>
                <a:lnTo>
                  <a:pt x="0" y="309652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2035672" y="895350"/>
            <a:ext cx="9450420" cy="1954596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796"/>
              </a:lnSpc>
            </a:pPr>
            <a:r>
              <a:rPr lang="en-US" sz="5569" dirty="0">
                <a:solidFill>
                  <a:srgbClr val="FCCFA5"/>
                </a:solidFill>
                <a:latin typeface="Chromium One"/>
                <a:ea typeface="Chromium One"/>
                <a:cs typeface="Chromium One"/>
                <a:sym typeface="Chromium One"/>
              </a:rPr>
              <a:t>DATA CLEANING &amp; PREPARATION — EXCEL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499255" y="4689673"/>
            <a:ext cx="7402578" cy="43500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91201" lvl="1" indent="-295601" algn="l">
              <a:lnSpc>
                <a:spcPts val="3833"/>
              </a:lnSpc>
              <a:buFont typeface="Arial"/>
              <a:buChar char="•"/>
            </a:pPr>
            <a:r>
              <a:rPr lang="en-US" sz="2738" b="1">
                <a:solidFill>
                  <a:srgbClr val="FCCFA5"/>
                </a:solidFill>
                <a:latin typeface="Arima Madurai Bold"/>
                <a:ea typeface="Arima Madurai Bold"/>
                <a:cs typeface="Arima Madurai Bold"/>
                <a:sym typeface="Arima Madurai Bold"/>
              </a:rPr>
              <a:t>Inspecting the dataset structure.</a:t>
            </a:r>
          </a:p>
          <a:p>
            <a:pPr marL="591201" lvl="1" indent="-295601" algn="l">
              <a:lnSpc>
                <a:spcPts val="3833"/>
              </a:lnSpc>
              <a:buFont typeface="Arial"/>
              <a:buChar char="•"/>
            </a:pPr>
            <a:r>
              <a:rPr lang="en-US" sz="2738" b="1">
                <a:solidFill>
                  <a:srgbClr val="FCCFA5"/>
                </a:solidFill>
                <a:latin typeface="Arima Madurai Bold"/>
                <a:ea typeface="Arima Madurai Bold"/>
                <a:cs typeface="Arima Madurai Bold"/>
                <a:sym typeface="Arima Madurai Bold"/>
              </a:rPr>
              <a:t>Identifying missing values.</a:t>
            </a:r>
          </a:p>
          <a:p>
            <a:pPr marL="591201" lvl="1" indent="-295601" algn="l">
              <a:lnSpc>
                <a:spcPts val="3833"/>
              </a:lnSpc>
              <a:buFont typeface="Arial"/>
              <a:buChar char="•"/>
            </a:pPr>
            <a:r>
              <a:rPr lang="en-US" sz="2738" b="1">
                <a:solidFill>
                  <a:srgbClr val="FCCFA5"/>
                </a:solidFill>
                <a:latin typeface="Arima Madurai Bold"/>
                <a:ea typeface="Arima Madurai Bold"/>
                <a:cs typeface="Arima Madurai Bold"/>
                <a:sym typeface="Arima Madurai Bold"/>
              </a:rPr>
              <a:t>Checking for duplicate records.</a:t>
            </a:r>
          </a:p>
          <a:p>
            <a:pPr marL="591201" lvl="1" indent="-295601" algn="l">
              <a:lnSpc>
                <a:spcPts val="3833"/>
              </a:lnSpc>
              <a:buFont typeface="Arial"/>
              <a:buChar char="•"/>
            </a:pPr>
            <a:r>
              <a:rPr lang="en-US" sz="2738" b="1">
                <a:solidFill>
                  <a:srgbClr val="FCCFA5"/>
                </a:solidFill>
                <a:latin typeface="Arima Madurai Bold"/>
                <a:ea typeface="Arima Madurai Bold"/>
                <a:cs typeface="Arima Madurai Bold"/>
                <a:sym typeface="Arima Madurai Bold"/>
              </a:rPr>
              <a:t>Standardizing data values and formats.</a:t>
            </a:r>
          </a:p>
          <a:p>
            <a:pPr marL="591201" lvl="1" indent="-295601" algn="l">
              <a:lnSpc>
                <a:spcPts val="3833"/>
              </a:lnSpc>
              <a:buFont typeface="Arial"/>
              <a:buChar char="•"/>
            </a:pPr>
            <a:r>
              <a:rPr lang="en-US" sz="2738" b="1">
                <a:solidFill>
                  <a:srgbClr val="FCCFA5"/>
                </a:solidFill>
                <a:latin typeface="Arima Madurai Bold"/>
                <a:ea typeface="Arima Madurai Bold"/>
                <a:cs typeface="Arima Madurai Bold"/>
                <a:sym typeface="Arima Madurai Bold"/>
              </a:rPr>
              <a:t>Checking data types.</a:t>
            </a:r>
          </a:p>
          <a:p>
            <a:pPr marL="591201" lvl="1" indent="-295601" algn="l">
              <a:lnSpc>
                <a:spcPts val="3833"/>
              </a:lnSpc>
              <a:buFont typeface="Arial"/>
              <a:buChar char="•"/>
            </a:pPr>
            <a:r>
              <a:rPr lang="en-US" sz="2738" b="1">
                <a:solidFill>
                  <a:srgbClr val="FCCFA5"/>
                </a:solidFill>
                <a:latin typeface="Arima Madurai Bold"/>
                <a:ea typeface="Arima Madurai Bold"/>
                <a:cs typeface="Arima Madurai Bold"/>
                <a:sym typeface="Arima Madurai Bold"/>
              </a:rPr>
              <a:t>Organizing the dataset.</a:t>
            </a:r>
          </a:p>
          <a:p>
            <a:pPr marL="591201" lvl="1" indent="-295601" algn="l">
              <a:lnSpc>
                <a:spcPts val="3833"/>
              </a:lnSpc>
              <a:buFont typeface="Arial"/>
              <a:buChar char="•"/>
            </a:pPr>
            <a:r>
              <a:rPr lang="en-US" sz="2738" b="1">
                <a:solidFill>
                  <a:srgbClr val="FCCFA5"/>
                </a:solidFill>
                <a:latin typeface="Arima Madurai Bold"/>
                <a:ea typeface="Arima Madurai Bold"/>
                <a:cs typeface="Arima Madurai Bold"/>
                <a:sym typeface="Arima Madurai Bold"/>
              </a:rPr>
              <a:t>Preparing a clean and consistent dataset</a:t>
            </a:r>
          </a:p>
          <a:p>
            <a:pPr marL="591201" lvl="1" indent="-295601" algn="l">
              <a:lnSpc>
                <a:spcPts val="3833"/>
              </a:lnSpc>
              <a:buFont typeface="Arial"/>
              <a:buChar char="•"/>
            </a:pPr>
            <a:r>
              <a:rPr lang="en-US" sz="2738" b="1">
                <a:solidFill>
                  <a:srgbClr val="FCCFA5"/>
                </a:solidFill>
                <a:latin typeface="Arima Madurai Bold"/>
                <a:ea typeface="Arima Madurai Bold"/>
                <a:cs typeface="Arima Madurai Bold"/>
                <a:sym typeface="Arima Madurai Bold"/>
              </a:rPr>
              <a:t> for analysis.</a:t>
            </a:r>
          </a:p>
          <a:p>
            <a:pPr algn="ctr">
              <a:lnSpc>
                <a:spcPts val="3833"/>
              </a:lnSpc>
            </a:pPr>
            <a:endParaRPr lang="en-US" sz="2738" b="1">
              <a:solidFill>
                <a:srgbClr val="FCCFA5"/>
              </a:solidFill>
              <a:latin typeface="Arima Madurai Bold"/>
              <a:ea typeface="Arima Madurai Bold"/>
              <a:cs typeface="Arima Madurai Bold"/>
              <a:sym typeface="Arima Madurai 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2499255" y="2942768"/>
            <a:ext cx="12070486" cy="8248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1"/>
              </a:lnSpc>
              <a:spcBef>
                <a:spcPct val="0"/>
              </a:spcBef>
            </a:pPr>
            <a:r>
              <a:rPr lang="en-US" sz="2401">
                <a:solidFill>
                  <a:srgbClr val="EDC095"/>
                </a:solidFill>
                <a:latin typeface="Arima Madurai"/>
                <a:ea typeface="Arima Madurai"/>
                <a:cs typeface="Arima Madurai"/>
                <a:sym typeface="Arima Madurai"/>
              </a:rPr>
              <a:t>Excel was used as an important step for inspecting and preparing the Netflix dataset before performing deeper analysis.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839285" y="3946256"/>
            <a:ext cx="2665802" cy="5128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16"/>
              </a:lnSpc>
              <a:spcBef>
                <a:spcPct val="0"/>
              </a:spcBef>
            </a:pPr>
            <a:r>
              <a:rPr lang="en-US" sz="2940">
                <a:solidFill>
                  <a:srgbClr val="FCCFA5"/>
                </a:solidFill>
                <a:latin typeface="Fredoka"/>
                <a:ea typeface="Fredoka"/>
                <a:cs typeface="Fredoka"/>
                <a:sym typeface="Fredoka"/>
              </a:rPr>
              <a:t>Main Tasks :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901239" y="4609176"/>
            <a:ext cx="1490729" cy="572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56"/>
              </a:lnSpc>
              <a:spcBef>
                <a:spcPct val="0"/>
              </a:spcBef>
            </a:pPr>
            <a:r>
              <a:rPr lang="en-US" sz="3326">
                <a:solidFill>
                  <a:srgbClr val="FCCFA5"/>
                </a:solidFill>
                <a:latin typeface="Fredoka"/>
                <a:ea typeface="Fredoka"/>
                <a:cs typeface="Fredoka"/>
                <a:sym typeface="Fredoka"/>
              </a:rPr>
              <a:t>Goal :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318289" y="5286375"/>
            <a:ext cx="7235349" cy="18742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84993" lvl="1" indent="-292496" algn="l">
              <a:lnSpc>
                <a:spcPts val="3793"/>
              </a:lnSpc>
              <a:buFont typeface="Arial"/>
              <a:buChar char="•"/>
            </a:pPr>
            <a:r>
              <a:rPr lang="en-US" sz="2709">
                <a:solidFill>
                  <a:srgbClr val="FCCFA5"/>
                </a:solidFill>
                <a:latin typeface="Arima Madurai"/>
                <a:ea typeface="Arima Madurai"/>
                <a:cs typeface="Arima Madurai"/>
                <a:sym typeface="Arima Madurai"/>
              </a:rPr>
              <a:t>To make sure that the data is clean, organized, and suitable for further analysis using SQL, Python, Power BI,</a:t>
            </a:r>
          </a:p>
          <a:p>
            <a:pPr algn="l">
              <a:lnSpc>
                <a:spcPts val="3793"/>
              </a:lnSpc>
            </a:pPr>
            <a:r>
              <a:rPr lang="en-US" sz="2709">
                <a:solidFill>
                  <a:srgbClr val="FCCFA5"/>
                </a:solidFill>
                <a:latin typeface="Arima Madurai"/>
                <a:ea typeface="Arima Madurai"/>
                <a:cs typeface="Arima Madurai"/>
                <a:sym typeface="Arima Madurai"/>
              </a:rPr>
              <a:t>       and Tableau.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456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386481" y="7306081"/>
            <a:ext cx="9901519" cy="3467277"/>
          </a:xfrm>
          <a:custGeom>
            <a:avLst/>
            <a:gdLst/>
            <a:ahLst/>
            <a:cxnLst/>
            <a:rect l="l" t="t" r="r" b="b"/>
            <a:pathLst>
              <a:path w="9901519" h="3467277">
                <a:moveTo>
                  <a:pt x="0" y="0"/>
                </a:moveTo>
                <a:lnTo>
                  <a:pt x="9901519" y="0"/>
                </a:lnTo>
                <a:lnTo>
                  <a:pt x="9901519" y="3467277"/>
                </a:lnTo>
                <a:lnTo>
                  <a:pt x="0" y="346727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1043773" y="0"/>
            <a:ext cx="4144945" cy="4114800"/>
          </a:xfrm>
          <a:custGeom>
            <a:avLst/>
            <a:gdLst/>
            <a:ahLst/>
            <a:cxnLst/>
            <a:rect l="l" t="t" r="r" b="b"/>
            <a:pathLst>
              <a:path w="4144945" h="4114800">
                <a:moveTo>
                  <a:pt x="0" y="0"/>
                </a:moveTo>
                <a:lnTo>
                  <a:pt x="4144946" y="0"/>
                </a:lnTo>
                <a:lnTo>
                  <a:pt x="414494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5876384" y="0"/>
            <a:ext cx="2411616" cy="4459074"/>
          </a:xfrm>
          <a:custGeom>
            <a:avLst/>
            <a:gdLst/>
            <a:ahLst/>
            <a:cxnLst/>
            <a:rect l="l" t="t" r="r" b="b"/>
            <a:pathLst>
              <a:path w="2411616" h="4459074">
                <a:moveTo>
                  <a:pt x="0" y="0"/>
                </a:moveTo>
                <a:lnTo>
                  <a:pt x="2411616" y="0"/>
                </a:lnTo>
                <a:lnTo>
                  <a:pt x="2411616" y="4459074"/>
                </a:lnTo>
                <a:lnTo>
                  <a:pt x="0" y="445907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-781885" y="7710036"/>
            <a:ext cx="3621170" cy="3096528"/>
          </a:xfrm>
          <a:custGeom>
            <a:avLst/>
            <a:gdLst/>
            <a:ahLst/>
            <a:cxnLst/>
            <a:rect l="l" t="t" r="r" b="b"/>
            <a:pathLst>
              <a:path w="3621170" h="3096528">
                <a:moveTo>
                  <a:pt x="0" y="0"/>
                </a:moveTo>
                <a:lnTo>
                  <a:pt x="3621170" y="0"/>
                </a:lnTo>
                <a:lnTo>
                  <a:pt x="3621170" y="3096528"/>
                </a:lnTo>
                <a:lnTo>
                  <a:pt x="0" y="309652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2196183" y="1676240"/>
            <a:ext cx="9450420" cy="973244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796"/>
              </a:lnSpc>
            </a:pPr>
            <a:r>
              <a:rPr lang="en-US" sz="5569" dirty="0">
                <a:solidFill>
                  <a:srgbClr val="FCCFA5"/>
                </a:solidFill>
                <a:latin typeface="Chromium One"/>
                <a:ea typeface="Chromium One"/>
                <a:cs typeface="Chromium One"/>
                <a:sym typeface="Chromium One"/>
              </a:rPr>
              <a:t>DATA ANALYSIS — SQL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629868" y="4276725"/>
            <a:ext cx="2557951" cy="16158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3364" lvl="1" indent="-321682" algn="l">
              <a:lnSpc>
                <a:spcPts val="4171"/>
              </a:lnSpc>
              <a:buFont typeface="Arial"/>
              <a:buChar char="•"/>
            </a:pPr>
            <a:r>
              <a:rPr lang="en-US" sz="2979" b="1" dirty="0">
                <a:solidFill>
                  <a:srgbClr val="FCCFA5"/>
                </a:solidFill>
                <a:latin typeface="Arima Madurai Bold"/>
                <a:ea typeface="Arima Madurai Bold"/>
                <a:cs typeface="Arima Madurai Bold"/>
                <a:sym typeface="Arima Madurai Bold"/>
              </a:rPr>
              <a:t>SELECT</a:t>
            </a:r>
          </a:p>
          <a:p>
            <a:pPr marL="643364" lvl="1" indent="-321682" algn="l">
              <a:lnSpc>
                <a:spcPts val="4171"/>
              </a:lnSpc>
              <a:buFont typeface="Arial"/>
              <a:buChar char="•"/>
            </a:pPr>
            <a:r>
              <a:rPr lang="en-US" sz="2979" b="1" dirty="0">
                <a:solidFill>
                  <a:srgbClr val="FCCFA5"/>
                </a:solidFill>
                <a:latin typeface="Arima Madurai Bold"/>
                <a:ea typeface="Arima Madurai Bold"/>
                <a:cs typeface="Arima Madurai Bold"/>
                <a:sym typeface="Arima Madurai Bold"/>
              </a:rPr>
              <a:t>WHERE</a:t>
            </a:r>
          </a:p>
          <a:p>
            <a:pPr marL="643364" lvl="1" indent="-321682" algn="l">
              <a:lnSpc>
                <a:spcPts val="4171"/>
              </a:lnSpc>
              <a:buFont typeface="Arial"/>
              <a:buChar char="•"/>
            </a:pPr>
            <a:r>
              <a:rPr lang="en-US" sz="2979" b="1" dirty="0">
                <a:solidFill>
                  <a:srgbClr val="FCCFA5"/>
                </a:solidFill>
                <a:latin typeface="Arima Madurai Bold"/>
                <a:ea typeface="Arima Madurai Bold"/>
                <a:cs typeface="Arima Madurai Bold"/>
                <a:sym typeface="Arima Madurai Bold"/>
              </a:rPr>
              <a:t>GROUP BY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108757" y="2778056"/>
            <a:ext cx="12070486" cy="4057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1"/>
              </a:lnSpc>
              <a:spcBef>
                <a:spcPct val="0"/>
              </a:spcBef>
            </a:pPr>
            <a:r>
              <a:rPr lang="en-US" sz="2401">
                <a:solidFill>
                  <a:srgbClr val="EDC095"/>
                </a:solidFill>
                <a:latin typeface="Arima Madurai"/>
                <a:ea typeface="Arima Madurai"/>
                <a:cs typeface="Arima Madurai"/>
                <a:sym typeface="Arima Madurai"/>
              </a:rPr>
              <a:t>SQL was used to query and analyze the structured Netflix dataset.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418114" y="7492281"/>
            <a:ext cx="1490729" cy="572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56"/>
              </a:lnSpc>
              <a:spcBef>
                <a:spcPct val="0"/>
              </a:spcBef>
            </a:pPr>
            <a:r>
              <a:rPr lang="en-US" sz="3326">
                <a:solidFill>
                  <a:srgbClr val="FCCFA5"/>
                </a:solidFill>
                <a:latin typeface="Fredoka"/>
                <a:ea typeface="Fredoka"/>
                <a:cs typeface="Fredoka"/>
                <a:sym typeface="Fredoka"/>
              </a:rPr>
              <a:t>Goal :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908843" y="7520856"/>
            <a:ext cx="11058646" cy="921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84993" lvl="1" indent="-292496" algn="l">
              <a:lnSpc>
                <a:spcPts val="3793"/>
              </a:lnSpc>
              <a:buFont typeface="Arial"/>
              <a:buChar char="•"/>
            </a:pPr>
            <a:r>
              <a:rPr lang="en-US" sz="2709">
                <a:solidFill>
                  <a:srgbClr val="FCCFA5"/>
                </a:solidFill>
                <a:latin typeface="Arima Madurai"/>
                <a:ea typeface="Arima Madurai"/>
                <a:cs typeface="Arima Madurai"/>
                <a:sym typeface="Arima Madurai"/>
              </a:rPr>
              <a:t>To make sure that the data is clean, organized, and suitable for further analysis using SQL, Python, Power BI, and Tableau.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418114" y="3526623"/>
            <a:ext cx="4768572" cy="4694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92"/>
              </a:lnSpc>
              <a:spcBef>
                <a:spcPct val="0"/>
              </a:spcBef>
            </a:pPr>
            <a:r>
              <a:rPr lang="en-US" sz="2780">
                <a:solidFill>
                  <a:srgbClr val="FCCFA5"/>
                </a:solidFill>
                <a:latin typeface="Fredoka"/>
                <a:ea typeface="Fredoka"/>
                <a:cs typeface="Fredoka"/>
                <a:sym typeface="Fredoka"/>
              </a:rPr>
              <a:t>Main SQL Operations :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157601" y="4276725"/>
            <a:ext cx="2240839" cy="10259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17814" lvl="1" indent="-308907" algn="l">
              <a:lnSpc>
                <a:spcPts val="4006"/>
              </a:lnSpc>
              <a:buFont typeface="Arial"/>
              <a:buChar char="•"/>
            </a:pPr>
            <a:r>
              <a:rPr lang="en-US" sz="2861" b="1" dirty="0">
                <a:solidFill>
                  <a:srgbClr val="FCCFA5"/>
                </a:solidFill>
                <a:latin typeface="Arima Madurai Bold"/>
                <a:ea typeface="Arima Madurai Bold"/>
                <a:cs typeface="Arima Madurai Bold"/>
                <a:sym typeface="Arima Madurai Bold"/>
              </a:rPr>
              <a:t>ORDER BY</a:t>
            </a:r>
          </a:p>
          <a:p>
            <a:pPr marL="617814" lvl="1" indent="-308907" algn="l">
              <a:lnSpc>
                <a:spcPts val="4006"/>
              </a:lnSpc>
              <a:buFont typeface="Arial"/>
              <a:buChar char="•"/>
            </a:pPr>
            <a:r>
              <a:rPr lang="en-US" sz="2861" b="1" dirty="0">
                <a:solidFill>
                  <a:srgbClr val="FCCFA5"/>
                </a:solidFill>
                <a:latin typeface="Arima Madurai Bold"/>
                <a:ea typeface="Arima Madurai Bold"/>
                <a:cs typeface="Arima Madurai Bold"/>
                <a:sym typeface="Arima Madurai Bold"/>
              </a:rPr>
              <a:t>COUNT()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438166" y="3618990"/>
            <a:ext cx="3363434" cy="4958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171"/>
              </a:lnSpc>
              <a:spcBef>
                <a:spcPct val="0"/>
              </a:spcBef>
            </a:pPr>
            <a:r>
              <a:rPr lang="en-US" sz="2979" dirty="0">
                <a:solidFill>
                  <a:srgbClr val="FCCFA5"/>
                </a:solidFill>
                <a:latin typeface="Fredoka"/>
                <a:ea typeface="Fredoka"/>
                <a:cs typeface="Fredoka"/>
                <a:sym typeface="Fredoka"/>
              </a:rPr>
              <a:t>SQL was used to :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438166" y="4312590"/>
            <a:ext cx="7077391" cy="2608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7200" lvl="1" indent="-268600" algn="l">
              <a:lnSpc>
                <a:spcPts val="3483"/>
              </a:lnSpc>
              <a:buFont typeface="Arial"/>
              <a:buChar char="•"/>
            </a:pPr>
            <a:r>
              <a:rPr lang="en-US" sz="2488" b="1">
                <a:solidFill>
                  <a:srgbClr val="FCCFA5"/>
                </a:solidFill>
                <a:latin typeface="Arima Madurai Bold"/>
                <a:ea typeface="Arima Madurai Bold"/>
                <a:cs typeface="Arima Madurai Bold"/>
                <a:sym typeface="Arima Madurai Bold"/>
              </a:rPr>
              <a:t>Filter specific records.</a:t>
            </a:r>
          </a:p>
          <a:p>
            <a:pPr marL="537200" lvl="1" indent="-268600" algn="l">
              <a:lnSpc>
                <a:spcPts val="3483"/>
              </a:lnSpc>
              <a:buFont typeface="Arial"/>
              <a:buChar char="•"/>
            </a:pPr>
            <a:r>
              <a:rPr lang="en-US" sz="2488" b="1">
                <a:solidFill>
                  <a:srgbClr val="FCCFA5"/>
                </a:solidFill>
                <a:latin typeface="Arima Madurai Bold"/>
                <a:ea typeface="Arima Madurai Bold"/>
                <a:cs typeface="Arima Madurai Bold"/>
                <a:sym typeface="Arima Madurai Bold"/>
              </a:rPr>
              <a:t>Count Movies and TV Shows.</a:t>
            </a:r>
          </a:p>
          <a:p>
            <a:pPr marL="537200" lvl="1" indent="-268600" algn="l">
              <a:lnSpc>
                <a:spcPts val="3483"/>
              </a:lnSpc>
              <a:buFont typeface="Arial"/>
              <a:buChar char="•"/>
            </a:pPr>
            <a:r>
              <a:rPr lang="en-US" sz="2488" b="1">
                <a:solidFill>
                  <a:srgbClr val="FCCFA5"/>
                </a:solidFill>
                <a:latin typeface="Arima Madurai Bold"/>
                <a:ea typeface="Arima Madurai Bold"/>
                <a:cs typeface="Arima Madurai Bold"/>
                <a:sym typeface="Arima Madurai Bold"/>
              </a:rPr>
              <a:t>Group content by different attributes.</a:t>
            </a:r>
          </a:p>
          <a:p>
            <a:pPr marL="537200" lvl="1" indent="-268600" algn="l">
              <a:lnSpc>
                <a:spcPts val="3483"/>
              </a:lnSpc>
              <a:buFont typeface="Arial"/>
              <a:buChar char="•"/>
            </a:pPr>
            <a:r>
              <a:rPr lang="en-US" sz="2488" b="1">
                <a:solidFill>
                  <a:srgbClr val="FCCFA5"/>
                </a:solidFill>
                <a:latin typeface="Arima Madurai Bold"/>
                <a:ea typeface="Arima Madurai Bold"/>
                <a:cs typeface="Arima Madurai Bold"/>
                <a:sym typeface="Arima Madurai Bold"/>
              </a:rPr>
              <a:t>Analyze countries and ratings.</a:t>
            </a:r>
          </a:p>
          <a:p>
            <a:pPr marL="537200" lvl="1" indent="-268600" algn="l">
              <a:lnSpc>
                <a:spcPts val="3483"/>
              </a:lnSpc>
              <a:buFont typeface="Arial"/>
              <a:buChar char="•"/>
            </a:pPr>
            <a:r>
              <a:rPr lang="en-US" sz="2488" b="1">
                <a:solidFill>
                  <a:srgbClr val="FCCFA5"/>
                </a:solidFill>
                <a:latin typeface="Arima Madurai Bold"/>
                <a:ea typeface="Arima Madurai Bold"/>
                <a:cs typeface="Arima Madurai Bold"/>
                <a:sym typeface="Arima Madurai Bold"/>
              </a:rPr>
              <a:t>Compare different categories.</a:t>
            </a:r>
          </a:p>
          <a:p>
            <a:pPr marL="537200" lvl="1" indent="-268600" algn="l">
              <a:lnSpc>
                <a:spcPts val="3483"/>
              </a:lnSpc>
              <a:buFont typeface="Arial"/>
              <a:buChar char="•"/>
            </a:pPr>
            <a:r>
              <a:rPr lang="en-US" sz="2488" b="1">
                <a:solidFill>
                  <a:srgbClr val="FCCFA5"/>
                </a:solidFill>
                <a:latin typeface="Arima Madurai Bold"/>
                <a:ea typeface="Arima Madurai Bold"/>
                <a:cs typeface="Arima Madurai Bold"/>
                <a:sym typeface="Arima Madurai Bold"/>
              </a:rPr>
              <a:t>Extract specific information from the dataset.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456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386481" y="7306081"/>
            <a:ext cx="9901519" cy="3467277"/>
          </a:xfrm>
          <a:custGeom>
            <a:avLst/>
            <a:gdLst/>
            <a:ahLst/>
            <a:cxnLst/>
            <a:rect l="l" t="t" r="r" b="b"/>
            <a:pathLst>
              <a:path w="9901519" h="3467277">
                <a:moveTo>
                  <a:pt x="0" y="0"/>
                </a:moveTo>
                <a:lnTo>
                  <a:pt x="9901519" y="0"/>
                </a:lnTo>
                <a:lnTo>
                  <a:pt x="9901519" y="3467277"/>
                </a:lnTo>
                <a:lnTo>
                  <a:pt x="0" y="346727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1043773" y="0"/>
            <a:ext cx="4144945" cy="4114800"/>
          </a:xfrm>
          <a:custGeom>
            <a:avLst/>
            <a:gdLst/>
            <a:ahLst/>
            <a:cxnLst/>
            <a:rect l="l" t="t" r="r" b="b"/>
            <a:pathLst>
              <a:path w="4144945" h="4114800">
                <a:moveTo>
                  <a:pt x="0" y="0"/>
                </a:moveTo>
                <a:lnTo>
                  <a:pt x="4144946" y="0"/>
                </a:lnTo>
                <a:lnTo>
                  <a:pt x="414494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5876384" y="0"/>
            <a:ext cx="2411616" cy="4459074"/>
          </a:xfrm>
          <a:custGeom>
            <a:avLst/>
            <a:gdLst/>
            <a:ahLst/>
            <a:cxnLst/>
            <a:rect l="l" t="t" r="r" b="b"/>
            <a:pathLst>
              <a:path w="2411616" h="4459074">
                <a:moveTo>
                  <a:pt x="0" y="0"/>
                </a:moveTo>
                <a:lnTo>
                  <a:pt x="2411616" y="0"/>
                </a:lnTo>
                <a:lnTo>
                  <a:pt x="2411616" y="4459074"/>
                </a:lnTo>
                <a:lnTo>
                  <a:pt x="0" y="445907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-781885" y="7710036"/>
            <a:ext cx="3621170" cy="3096528"/>
          </a:xfrm>
          <a:custGeom>
            <a:avLst/>
            <a:gdLst/>
            <a:ahLst/>
            <a:cxnLst/>
            <a:rect l="l" t="t" r="r" b="b"/>
            <a:pathLst>
              <a:path w="3621170" h="3096528">
                <a:moveTo>
                  <a:pt x="0" y="0"/>
                </a:moveTo>
                <a:lnTo>
                  <a:pt x="3621170" y="0"/>
                </a:lnTo>
                <a:lnTo>
                  <a:pt x="3621170" y="3096528"/>
                </a:lnTo>
                <a:lnTo>
                  <a:pt x="0" y="309652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2629868" y="1676240"/>
            <a:ext cx="9450420" cy="973244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796"/>
              </a:lnSpc>
            </a:pPr>
            <a:r>
              <a:rPr lang="en-US" sz="5569" dirty="0">
                <a:solidFill>
                  <a:srgbClr val="FCCFA5"/>
                </a:solidFill>
                <a:latin typeface="Chromium One"/>
                <a:ea typeface="Chromium One"/>
                <a:cs typeface="Chromium One"/>
                <a:sym typeface="Chromium One"/>
              </a:rPr>
              <a:t>DATA ANALYSIS — PYTHON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44574" y="4294795"/>
            <a:ext cx="8075525" cy="20960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3364" lvl="1" indent="-321682" algn="l">
              <a:lnSpc>
                <a:spcPts val="4171"/>
              </a:lnSpc>
              <a:buFont typeface="Arial"/>
              <a:buChar char="•"/>
            </a:pPr>
            <a:r>
              <a:rPr lang="en-US" sz="2979" b="1">
                <a:solidFill>
                  <a:srgbClr val="FCCFA5"/>
                </a:solidFill>
                <a:latin typeface="Arima Madurai Bold"/>
                <a:ea typeface="Arima Madurai Bold"/>
                <a:cs typeface="Arima Madurai Bold"/>
                <a:sym typeface="Arima Madurai Bold"/>
              </a:rPr>
              <a:t>Pandas — Data manipulation and analysis.</a:t>
            </a:r>
          </a:p>
          <a:p>
            <a:pPr marL="643364" lvl="1" indent="-321682" algn="l">
              <a:lnSpc>
                <a:spcPts val="4171"/>
              </a:lnSpc>
              <a:buFont typeface="Arial"/>
              <a:buChar char="•"/>
            </a:pPr>
            <a:r>
              <a:rPr lang="en-US" sz="2979" b="1">
                <a:solidFill>
                  <a:srgbClr val="FCCFA5"/>
                </a:solidFill>
                <a:latin typeface="Arima Madurai Bold"/>
                <a:ea typeface="Arima Madurai Bold"/>
                <a:cs typeface="Arima Madurai Bold"/>
                <a:sym typeface="Arima Madurai Bold"/>
              </a:rPr>
              <a:t>NumPy — Numerical operations.</a:t>
            </a:r>
          </a:p>
          <a:p>
            <a:pPr marL="643364" lvl="1" indent="-321682" algn="l">
              <a:lnSpc>
                <a:spcPts val="4171"/>
              </a:lnSpc>
              <a:buFont typeface="Arial"/>
              <a:buChar char="•"/>
            </a:pPr>
            <a:r>
              <a:rPr lang="en-US" sz="2979" b="1">
                <a:solidFill>
                  <a:srgbClr val="FCCFA5"/>
                </a:solidFill>
                <a:latin typeface="Arima Madurai Bold"/>
                <a:ea typeface="Arima Madurai Bold"/>
                <a:cs typeface="Arima Madurai Bold"/>
                <a:sym typeface="Arima Madurai Bold"/>
              </a:rPr>
              <a:t>Matplotlib — Data visualization.</a:t>
            </a:r>
          </a:p>
          <a:p>
            <a:pPr marL="643364" lvl="1" indent="-321682" algn="l">
              <a:lnSpc>
                <a:spcPts val="4171"/>
              </a:lnSpc>
              <a:buFont typeface="Arial"/>
              <a:buChar char="•"/>
            </a:pPr>
            <a:r>
              <a:rPr lang="en-US" sz="2979" b="1">
                <a:solidFill>
                  <a:srgbClr val="FCCFA5"/>
                </a:solidFill>
                <a:latin typeface="Arima Madurai Bold"/>
                <a:ea typeface="Arima Madurai Bold"/>
                <a:cs typeface="Arima Madurai Bold"/>
                <a:sym typeface="Arima Madurai Bold"/>
              </a:rPr>
              <a:t>Seaborn — Statistical visualization.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108757" y="2778056"/>
            <a:ext cx="12070486" cy="4057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1"/>
              </a:lnSpc>
              <a:spcBef>
                <a:spcPct val="0"/>
              </a:spcBef>
            </a:pPr>
            <a:r>
              <a:rPr lang="en-US" sz="2401">
                <a:solidFill>
                  <a:srgbClr val="EDC095"/>
                </a:solidFill>
                <a:latin typeface="Arima Madurai"/>
                <a:ea typeface="Arima Madurai"/>
                <a:cs typeface="Arima Madurai"/>
                <a:sym typeface="Arima Madurai"/>
              </a:rPr>
              <a:t>Python was used for deeper data exploration, statistical analysis, and visualization.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418114" y="7492281"/>
            <a:ext cx="1490729" cy="572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56"/>
              </a:lnSpc>
              <a:spcBef>
                <a:spcPct val="0"/>
              </a:spcBef>
            </a:pPr>
            <a:r>
              <a:rPr lang="en-US" sz="3326">
                <a:solidFill>
                  <a:srgbClr val="FCCFA5"/>
                </a:solidFill>
                <a:latin typeface="Fredoka"/>
                <a:ea typeface="Fredoka"/>
                <a:cs typeface="Fredoka"/>
                <a:sym typeface="Fredoka"/>
              </a:rPr>
              <a:t>Goal :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908843" y="7520856"/>
            <a:ext cx="11058646" cy="921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84993" lvl="1" indent="-292496" algn="l">
              <a:lnSpc>
                <a:spcPts val="3793"/>
              </a:lnSpc>
              <a:buFont typeface="Arial"/>
              <a:buChar char="•"/>
            </a:pPr>
            <a:r>
              <a:rPr lang="en-US" sz="2709">
                <a:solidFill>
                  <a:srgbClr val="FCCFA5"/>
                </a:solidFill>
                <a:latin typeface="Arima Madurai"/>
                <a:ea typeface="Arima Madurai"/>
                <a:cs typeface="Arima Madurai"/>
                <a:sym typeface="Arima Madurai"/>
              </a:rPr>
              <a:t>To explore the dataset in greater depth and discover meaningful patterns within the Netflix content.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414544" y="3645329"/>
            <a:ext cx="4768572" cy="4694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92"/>
              </a:lnSpc>
              <a:spcBef>
                <a:spcPct val="0"/>
              </a:spcBef>
            </a:pPr>
            <a:r>
              <a:rPr lang="en-US" sz="2780">
                <a:solidFill>
                  <a:srgbClr val="FCCFA5"/>
                </a:solidFill>
                <a:latin typeface="Fredoka"/>
                <a:ea typeface="Fredoka"/>
                <a:cs typeface="Fredoka"/>
                <a:sym typeface="Fredoka"/>
              </a:rPr>
              <a:t>Main Libraries :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888466" y="3408067"/>
            <a:ext cx="2532133" cy="4958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171"/>
              </a:lnSpc>
              <a:spcBef>
                <a:spcPct val="0"/>
              </a:spcBef>
            </a:pPr>
            <a:r>
              <a:rPr lang="en-US" sz="2979" dirty="0">
                <a:solidFill>
                  <a:srgbClr val="FCCFA5"/>
                </a:solidFill>
                <a:latin typeface="Fredoka"/>
                <a:ea typeface="Fredoka"/>
                <a:cs typeface="Fredoka"/>
                <a:sym typeface="Fredoka"/>
              </a:rPr>
              <a:t>Main Tasks :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144000" y="4027702"/>
            <a:ext cx="7644026" cy="30464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7200" lvl="1" indent="-268600" algn="l">
              <a:lnSpc>
                <a:spcPts val="3483"/>
              </a:lnSpc>
              <a:buFont typeface="Arial"/>
              <a:buChar char="•"/>
            </a:pPr>
            <a:r>
              <a:rPr lang="en-US" sz="2488" b="1">
                <a:solidFill>
                  <a:srgbClr val="FCCFA5"/>
                </a:solidFill>
                <a:latin typeface="Arima Madurai Bold"/>
                <a:ea typeface="Arima Madurai Bold"/>
                <a:cs typeface="Arima Madurai Bold"/>
                <a:sym typeface="Arima Madurai Bold"/>
              </a:rPr>
              <a:t>Loading and exploring the dataset.</a:t>
            </a:r>
          </a:p>
          <a:p>
            <a:pPr marL="537200" lvl="1" indent="-268600" algn="l">
              <a:lnSpc>
                <a:spcPts val="3483"/>
              </a:lnSpc>
              <a:buFont typeface="Arial"/>
              <a:buChar char="•"/>
            </a:pPr>
            <a:r>
              <a:rPr lang="en-US" sz="2488" b="1">
                <a:solidFill>
                  <a:srgbClr val="FCCFA5"/>
                </a:solidFill>
                <a:latin typeface="Arima Madurai Bold"/>
                <a:ea typeface="Arima Madurai Bold"/>
                <a:cs typeface="Arima Madurai Bold"/>
                <a:sym typeface="Arima Madurai Bold"/>
              </a:rPr>
              <a:t>Checking missing values.</a:t>
            </a:r>
          </a:p>
          <a:p>
            <a:pPr marL="537200" lvl="1" indent="-268600" algn="l">
              <a:lnSpc>
                <a:spcPts val="3483"/>
              </a:lnSpc>
              <a:buFont typeface="Arial"/>
              <a:buChar char="•"/>
            </a:pPr>
            <a:r>
              <a:rPr lang="en-US" sz="2488" b="1">
                <a:solidFill>
                  <a:srgbClr val="FCCFA5"/>
                </a:solidFill>
                <a:latin typeface="Arima Madurai Bold"/>
                <a:ea typeface="Arima Madurai Bold"/>
                <a:cs typeface="Arima Madurai Bold"/>
                <a:sym typeface="Arima Madurai Bold"/>
              </a:rPr>
              <a:t>Examining data distributions.</a:t>
            </a:r>
          </a:p>
          <a:p>
            <a:pPr marL="537200" lvl="1" indent="-268600" algn="l">
              <a:lnSpc>
                <a:spcPts val="3483"/>
              </a:lnSpc>
              <a:buFont typeface="Arial"/>
              <a:buChar char="•"/>
            </a:pPr>
            <a:r>
              <a:rPr lang="en-US" sz="2488" b="1">
                <a:solidFill>
                  <a:srgbClr val="FCCFA5"/>
                </a:solidFill>
                <a:latin typeface="Arima Madurai Bold"/>
                <a:ea typeface="Arima Madurai Bold"/>
                <a:cs typeface="Arima Madurai Bold"/>
                <a:sym typeface="Arima Madurai Bold"/>
              </a:rPr>
              <a:t>Filtering and grouping data.</a:t>
            </a:r>
          </a:p>
          <a:p>
            <a:pPr marL="537200" lvl="1" indent="-268600" algn="l">
              <a:lnSpc>
                <a:spcPts val="3483"/>
              </a:lnSpc>
              <a:buFont typeface="Arial"/>
              <a:buChar char="•"/>
            </a:pPr>
            <a:r>
              <a:rPr lang="en-US" sz="2488" b="1">
                <a:solidFill>
                  <a:srgbClr val="FCCFA5"/>
                </a:solidFill>
                <a:latin typeface="Arima Madurai Bold"/>
                <a:ea typeface="Arima Madurai Bold"/>
                <a:cs typeface="Arima Madurai Bold"/>
                <a:sym typeface="Arima Madurai Bold"/>
              </a:rPr>
              <a:t>Performing basic statistical analysis.</a:t>
            </a:r>
          </a:p>
          <a:p>
            <a:pPr marL="537200" lvl="1" indent="-268600" algn="l">
              <a:lnSpc>
                <a:spcPts val="3483"/>
              </a:lnSpc>
              <a:buFont typeface="Arial"/>
              <a:buChar char="•"/>
            </a:pPr>
            <a:r>
              <a:rPr lang="en-US" sz="2488" b="1">
                <a:solidFill>
                  <a:srgbClr val="FCCFA5"/>
                </a:solidFill>
                <a:latin typeface="Arima Madurai Bold"/>
                <a:ea typeface="Arima Madurai Bold"/>
                <a:cs typeface="Arima Madurai Bold"/>
                <a:sym typeface="Arima Madurai Bold"/>
              </a:rPr>
              <a:t>Identifying patterns and trends.</a:t>
            </a:r>
          </a:p>
          <a:p>
            <a:pPr marL="537200" lvl="1" indent="-268600" algn="l">
              <a:lnSpc>
                <a:spcPts val="3483"/>
              </a:lnSpc>
              <a:buFont typeface="Arial"/>
              <a:buChar char="•"/>
            </a:pPr>
            <a:r>
              <a:rPr lang="en-US" sz="2488" b="1">
                <a:solidFill>
                  <a:srgbClr val="FCCFA5"/>
                </a:solidFill>
                <a:latin typeface="Arima Madurai Bold"/>
                <a:ea typeface="Arima Madurai Bold"/>
                <a:cs typeface="Arima Madurai Bold"/>
                <a:sym typeface="Arima Madurai Bold"/>
              </a:rPr>
              <a:t>Creating visualizations to support the analysis.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456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386481" y="7306081"/>
            <a:ext cx="9901519" cy="3467277"/>
          </a:xfrm>
          <a:custGeom>
            <a:avLst/>
            <a:gdLst/>
            <a:ahLst/>
            <a:cxnLst/>
            <a:rect l="l" t="t" r="r" b="b"/>
            <a:pathLst>
              <a:path w="9901519" h="3467277">
                <a:moveTo>
                  <a:pt x="0" y="0"/>
                </a:moveTo>
                <a:lnTo>
                  <a:pt x="9901519" y="0"/>
                </a:lnTo>
                <a:lnTo>
                  <a:pt x="9901519" y="3467277"/>
                </a:lnTo>
                <a:lnTo>
                  <a:pt x="0" y="346727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1043773" y="0"/>
            <a:ext cx="4144945" cy="4114800"/>
          </a:xfrm>
          <a:custGeom>
            <a:avLst/>
            <a:gdLst/>
            <a:ahLst/>
            <a:cxnLst/>
            <a:rect l="l" t="t" r="r" b="b"/>
            <a:pathLst>
              <a:path w="4144945" h="4114800">
                <a:moveTo>
                  <a:pt x="0" y="0"/>
                </a:moveTo>
                <a:lnTo>
                  <a:pt x="4144946" y="0"/>
                </a:lnTo>
                <a:lnTo>
                  <a:pt x="414494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5876384" y="0"/>
            <a:ext cx="2411616" cy="4459074"/>
          </a:xfrm>
          <a:custGeom>
            <a:avLst/>
            <a:gdLst/>
            <a:ahLst/>
            <a:cxnLst/>
            <a:rect l="l" t="t" r="r" b="b"/>
            <a:pathLst>
              <a:path w="2411616" h="4459074">
                <a:moveTo>
                  <a:pt x="0" y="0"/>
                </a:moveTo>
                <a:lnTo>
                  <a:pt x="2411616" y="0"/>
                </a:lnTo>
                <a:lnTo>
                  <a:pt x="2411616" y="4459074"/>
                </a:lnTo>
                <a:lnTo>
                  <a:pt x="0" y="445907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-781885" y="7710036"/>
            <a:ext cx="3621170" cy="3096528"/>
          </a:xfrm>
          <a:custGeom>
            <a:avLst/>
            <a:gdLst/>
            <a:ahLst/>
            <a:cxnLst/>
            <a:rect l="l" t="t" r="r" b="b"/>
            <a:pathLst>
              <a:path w="3621170" h="3096528">
                <a:moveTo>
                  <a:pt x="0" y="0"/>
                </a:moveTo>
                <a:lnTo>
                  <a:pt x="3621170" y="0"/>
                </a:lnTo>
                <a:lnTo>
                  <a:pt x="3621170" y="3096528"/>
                </a:lnTo>
                <a:lnTo>
                  <a:pt x="0" y="309652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2839285" y="1447204"/>
            <a:ext cx="11436747" cy="973244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796"/>
              </a:lnSpc>
            </a:pPr>
            <a:r>
              <a:rPr lang="en-US" sz="5569" dirty="0">
                <a:solidFill>
                  <a:srgbClr val="FCCFA5"/>
                </a:solidFill>
                <a:latin typeface="Chromium One"/>
                <a:ea typeface="Chromium One"/>
                <a:cs typeface="Chromium One"/>
                <a:sym typeface="Chromium One"/>
              </a:rPr>
              <a:t>DATA VISUALIZATION — POWER BI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97979" y="4695929"/>
            <a:ext cx="5206387" cy="20960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3364" lvl="1" indent="-321682" algn="l">
              <a:lnSpc>
                <a:spcPts val="4171"/>
              </a:lnSpc>
              <a:buFont typeface="Arial"/>
              <a:buChar char="•"/>
            </a:pPr>
            <a:r>
              <a:rPr lang="en-US" sz="2979" b="1">
                <a:solidFill>
                  <a:srgbClr val="FCCFA5"/>
                </a:solidFill>
                <a:latin typeface="Arima Madurai Bold"/>
                <a:ea typeface="Arima Madurai Bold"/>
                <a:cs typeface="Arima Madurai Bold"/>
                <a:sym typeface="Arima Madurai Bold"/>
              </a:rPr>
              <a:t>Total Titles</a:t>
            </a:r>
          </a:p>
          <a:p>
            <a:pPr marL="643364" lvl="1" indent="-321682" algn="l">
              <a:lnSpc>
                <a:spcPts val="4171"/>
              </a:lnSpc>
              <a:buFont typeface="Arial"/>
              <a:buChar char="•"/>
            </a:pPr>
            <a:r>
              <a:rPr lang="en-US" sz="2979" b="1">
                <a:solidFill>
                  <a:srgbClr val="FCCFA5"/>
                </a:solidFill>
                <a:latin typeface="Arima Madurai Bold"/>
                <a:ea typeface="Arima Madurai Bold"/>
                <a:cs typeface="Arima Madurai Bold"/>
                <a:sym typeface="Arima Madurai Bold"/>
              </a:rPr>
              <a:t>Total Movies</a:t>
            </a:r>
          </a:p>
          <a:p>
            <a:pPr marL="643364" lvl="1" indent="-321682" algn="l">
              <a:lnSpc>
                <a:spcPts val="4171"/>
              </a:lnSpc>
              <a:buFont typeface="Arial"/>
              <a:buChar char="•"/>
            </a:pPr>
            <a:r>
              <a:rPr lang="en-US" sz="2979" b="1">
                <a:solidFill>
                  <a:srgbClr val="FCCFA5"/>
                </a:solidFill>
                <a:latin typeface="Arima Madurai Bold"/>
                <a:ea typeface="Arima Madurai Bold"/>
                <a:cs typeface="Arima Madurai Bold"/>
                <a:sym typeface="Arima Madurai Bold"/>
              </a:rPr>
              <a:t>Total TV Shows</a:t>
            </a:r>
          </a:p>
          <a:p>
            <a:pPr marL="643364" lvl="1" indent="-321682" algn="l">
              <a:lnSpc>
                <a:spcPts val="4171"/>
              </a:lnSpc>
              <a:buFont typeface="Arial"/>
              <a:buChar char="•"/>
            </a:pPr>
            <a:r>
              <a:rPr lang="en-US" sz="2979" b="1">
                <a:solidFill>
                  <a:srgbClr val="FCCFA5"/>
                </a:solidFill>
                <a:latin typeface="Arima Madurai Bold"/>
                <a:ea typeface="Arima Madurai Bold"/>
                <a:cs typeface="Arima Madurai Bold"/>
                <a:sym typeface="Arima Madurai Bold"/>
              </a:rPr>
              <a:t>Average Release Year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101173" y="2553799"/>
            <a:ext cx="12070486" cy="8248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1"/>
              </a:lnSpc>
              <a:spcBef>
                <a:spcPct val="0"/>
              </a:spcBef>
            </a:pPr>
            <a:r>
              <a:rPr lang="en-US" sz="2401" dirty="0">
                <a:solidFill>
                  <a:srgbClr val="EDC095"/>
                </a:solidFill>
                <a:latin typeface="Arima Madurai"/>
                <a:ea typeface="Arima Madurai"/>
                <a:cs typeface="Arima Madurai"/>
                <a:sym typeface="Arima Madurai"/>
              </a:rPr>
              <a:t>Power BI was used to create an interactive dashboard that presents the main </a:t>
            </a:r>
          </a:p>
          <a:p>
            <a:pPr algn="l">
              <a:lnSpc>
                <a:spcPts val="3361"/>
              </a:lnSpc>
              <a:spcBef>
                <a:spcPct val="0"/>
              </a:spcBef>
            </a:pPr>
            <a:r>
              <a:rPr lang="en-US" sz="2401" dirty="0">
                <a:solidFill>
                  <a:srgbClr val="EDC095"/>
                </a:solidFill>
                <a:latin typeface="Arima Madurai"/>
                <a:ea typeface="Arima Madurai"/>
                <a:cs typeface="Arima Madurai"/>
                <a:sym typeface="Arima Madurai"/>
              </a:rPr>
              <a:t>findings of the Netflix dataset.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992833" y="3835829"/>
            <a:ext cx="2519802" cy="5234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93"/>
              </a:lnSpc>
              <a:spcBef>
                <a:spcPct val="0"/>
              </a:spcBef>
            </a:pPr>
            <a:r>
              <a:rPr lang="en-US" sz="3066">
                <a:solidFill>
                  <a:srgbClr val="FCCFA5"/>
                </a:solidFill>
                <a:latin typeface="Fredoka"/>
                <a:ea typeface="Fredoka"/>
                <a:cs typeface="Fredoka"/>
                <a:sym typeface="Fredoka"/>
              </a:rPr>
              <a:t>Main Filters :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573114" y="4502130"/>
            <a:ext cx="4994959" cy="1398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84993" lvl="1" indent="-292496" algn="l">
              <a:lnSpc>
                <a:spcPts val="3793"/>
              </a:lnSpc>
              <a:buFont typeface="Arial"/>
              <a:buChar char="•"/>
            </a:pPr>
            <a:r>
              <a:rPr lang="en-US" sz="2709">
                <a:solidFill>
                  <a:srgbClr val="FCCFA5"/>
                </a:solidFill>
                <a:latin typeface="Arima Madurai"/>
                <a:ea typeface="Arima Madurai"/>
                <a:cs typeface="Arima Madurai"/>
                <a:sym typeface="Arima Madurai"/>
              </a:rPr>
              <a:t>Country</a:t>
            </a:r>
          </a:p>
          <a:p>
            <a:pPr marL="584993" lvl="1" indent="-292496" algn="l">
              <a:lnSpc>
                <a:spcPts val="3793"/>
              </a:lnSpc>
              <a:buFont typeface="Arial"/>
              <a:buChar char="•"/>
            </a:pPr>
            <a:r>
              <a:rPr lang="en-US" sz="2709">
                <a:solidFill>
                  <a:srgbClr val="FCCFA5"/>
                </a:solidFill>
                <a:latin typeface="Arima Madurai"/>
                <a:ea typeface="Arima Madurai"/>
                <a:cs typeface="Arima Madurai"/>
                <a:sym typeface="Arima Madurai"/>
              </a:rPr>
              <a:t>Content Type</a:t>
            </a:r>
          </a:p>
          <a:p>
            <a:pPr marL="584993" lvl="1" indent="-292496" algn="l">
              <a:lnSpc>
                <a:spcPts val="3793"/>
              </a:lnSpc>
              <a:buFont typeface="Arial"/>
              <a:buChar char="•"/>
            </a:pPr>
            <a:r>
              <a:rPr lang="en-US" sz="2709">
                <a:solidFill>
                  <a:srgbClr val="FCCFA5"/>
                </a:solidFill>
                <a:latin typeface="Arima Madurai"/>
                <a:ea typeface="Arima Madurai"/>
                <a:cs typeface="Arima Madurai"/>
                <a:sym typeface="Arima Madurai"/>
              </a:rPr>
              <a:t>Other available dimensions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8700" y="4059442"/>
            <a:ext cx="2595286" cy="5126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14"/>
              </a:lnSpc>
              <a:spcBef>
                <a:spcPct val="0"/>
              </a:spcBef>
            </a:pPr>
            <a:r>
              <a:rPr lang="en-US" sz="2939">
                <a:solidFill>
                  <a:srgbClr val="FCCFA5"/>
                </a:solidFill>
                <a:latin typeface="Fredoka"/>
                <a:ea typeface="Fredoka"/>
                <a:cs typeface="Fredoka"/>
                <a:sym typeface="Fredoka"/>
              </a:rPr>
              <a:t>Main KPIs :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492026" y="7380831"/>
            <a:ext cx="4061174" cy="4933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171"/>
              </a:lnSpc>
              <a:spcBef>
                <a:spcPct val="0"/>
              </a:spcBef>
            </a:pPr>
            <a:r>
              <a:rPr lang="en-US" sz="2979" dirty="0">
                <a:solidFill>
                  <a:srgbClr val="FCCFA5"/>
                </a:solidFill>
                <a:latin typeface="Fredoka"/>
                <a:ea typeface="Fredoka"/>
                <a:cs typeface="Fredoka"/>
                <a:sym typeface="Fredoka"/>
              </a:rPr>
              <a:t>Main Visualizations :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839285" y="8039100"/>
            <a:ext cx="2264366" cy="13465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7200" lvl="1" indent="-268600" algn="l">
              <a:lnSpc>
                <a:spcPts val="3483"/>
              </a:lnSpc>
              <a:buFont typeface="Arial"/>
              <a:buChar char="•"/>
            </a:pPr>
            <a:r>
              <a:rPr lang="en-US" sz="2488" b="1" dirty="0">
                <a:solidFill>
                  <a:srgbClr val="FCCFA5"/>
                </a:solidFill>
                <a:latin typeface="Arima Madurai Bold"/>
                <a:ea typeface="Arima Madurai Bold"/>
                <a:cs typeface="Arima Madurai Bold"/>
                <a:sym typeface="Arima Madurai Bold"/>
              </a:rPr>
              <a:t>Donut Chart</a:t>
            </a:r>
          </a:p>
          <a:p>
            <a:pPr marL="537200" lvl="1" indent="-268600" algn="l">
              <a:lnSpc>
                <a:spcPts val="3483"/>
              </a:lnSpc>
              <a:buFont typeface="Arial"/>
              <a:buChar char="•"/>
            </a:pPr>
            <a:r>
              <a:rPr lang="en-US" sz="2488" b="1" dirty="0">
                <a:solidFill>
                  <a:srgbClr val="FCCFA5"/>
                </a:solidFill>
                <a:latin typeface="Arima Madurai Bold"/>
                <a:ea typeface="Arima Madurai Bold"/>
                <a:cs typeface="Arima Madurai Bold"/>
                <a:sym typeface="Arima Madurai Bold"/>
              </a:rPr>
              <a:t>Bar Chart</a:t>
            </a:r>
          </a:p>
          <a:p>
            <a:pPr marL="537200" lvl="1" indent="-268600" algn="l">
              <a:lnSpc>
                <a:spcPts val="3483"/>
              </a:lnSpc>
              <a:buFont typeface="Arial"/>
              <a:buChar char="•"/>
            </a:pPr>
            <a:r>
              <a:rPr lang="en-US" sz="2488" b="1" dirty="0">
                <a:solidFill>
                  <a:srgbClr val="FCCFA5"/>
                </a:solidFill>
                <a:latin typeface="Arima Madurai Bold"/>
                <a:ea typeface="Arima Madurai Bold"/>
                <a:cs typeface="Arima Madurai Bold"/>
                <a:sym typeface="Arima Madurai Bold"/>
              </a:rPr>
              <a:t>Line Chart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027574" y="7439431"/>
            <a:ext cx="8765662" cy="8608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76"/>
              </a:lnSpc>
              <a:spcBef>
                <a:spcPct val="0"/>
              </a:spcBef>
            </a:pPr>
            <a:r>
              <a:rPr lang="en-US" sz="2483">
                <a:solidFill>
                  <a:srgbClr val="FCCFA5"/>
                </a:solidFill>
                <a:latin typeface="Arima Madurai"/>
                <a:ea typeface="Arima Madurai"/>
                <a:cs typeface="Arima Madurai"/>
                <a:sym typeface="Arima Madurai"/>
              </a:rPr>
              <a:t> The dashboard allows users to interact with the data and  </a:t>
            </a:r>
          </a:p>
          <a:p>
            <a:pPr algn="ctr">
              <a:lnSpc>
                <a:spcPts val="3476"/>
              </a:lnSpc>
              <a:spcBef>
                <a:spcPct val="0"/>
              </a:spcBef>
            </a:pPr>
            <a:r>
              <a:rPr lang="en-US" sz="2483">
                <a:solidFill>
                  <a:srgbClr val="FCCFA5"/>
                </a:solidFill>
                <a:latin typeface="Arima Madurai"/>
                <a:ea typeface="Arima Madurai"/>
                <a:cs typeface="Arima Madurai"/>
                <a:sym typeface="Arima Madurai"/>
              </a:rPr>
              <a:t>explore Netflix content from different perspectives.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103651" y="8070401"/>
            <a:ext cx="2970771" cy="12363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1219" lvl="1" indent="-255610" algn="l">
              <a:lnSpc>
                <a:spcPts val="3314"/>
              </a:lnSpc>
              <a:buFont typeface="Arial"/>
              <a:buChar char="•"/>
            </a:pPr>
            <a:r>
              <a:rPr lang="en-US" sz="2367" b="1">
                <a:solidFill>
                  <a:srgbClr val="FCCFA5"/>
                </a:solidFill>
                <a:latin typeface="Arima Madurai Bold"/>
                <a:ea typeface="Arima Madurai Bold"/>
                <a:cs typeface="Arima Madurai Bold"/>
                <a:sym typeface="Arima Madurai Bold"/>
              </a:rPr>
              <a:t>Pie Chart</a:t>
            </a:r>
          </a:p>
          <a:p>
            <a:pPr marL="511219" lvl="1" indent="-255610" algn="l">
              <a:lnSpc>
                <a:spcPts val="3314"/>
              </a:lnSpc>
              <a:buFont typeface="Arial"/>
              <a:buChar char="•"/>
            </a:pPr>
            <a:r>
              <a:rPr lang="en-US" sz="2367" b="1">
                <a:solidFill>
                  <a:srgbClr val="FCCFA5"/>
                </a:solidFill>
                <a:latin typeface="Arima Madurai Bold"/>
                <a:ea typeface="Arima Madurai Bold"/>
                <a:cs typeface="Arima Madurai Bold"/>
                <a:sym typeface="Arima Madurai Bold"/>
              </a:rPr>
              <a:t>Column Chart</a:t>
            </a:r>
          </a:p>
          <a:p>
            <a:pPr marL="511219" lvl="1" indent="-255610" algn="l">
              <a:lnSpc>
                <a:spcPts val="3314"/>
              </a:lnSpc>
              <a:buFont typeface="Arial"/>
              <a:buChar char="•"/>
            </a:pPr>
            <a:r>
              <a:rPr lang="en-US" sz="2367" b="1">
                <a:solidFill>
                  <a:srgbClr val="FCCFA5"/>
                </a:solidFill>
                <a:latin typeface="Arima Madurai Bold"/>
                <a:ea typeface="Arima Madurai Bold"/>
                <a:cs typeface="Arima Madurai Bold"/>
                <a:sym typeface="Arima Madurai Bold"/>
              </a:rPr>
              <a:t>Interactive Slicers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87CB539A-DCC9-B2B5-8C20-48587CBAF6B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49021" y="3226634"/>
            <a:ext cx="7157320" cy="3985205"/>
          </a:xfrm>
          <a:prstGeom prst="roundRect">
            <a:avLst>
              <a:gd name="adj" fmla="val 24655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innerShdw blurRad="114300">
              <a:prstClr val="black"/>
            </a:innerShdw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456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386481" y="7306081"/>
            <a:ext cx="9901519" cy="3467277"/>
          </a:xfrm>
          <a:custGeom>
            <a:avLst/>
            <a:gdLst/>
            <a:ahLst/>
            <a:cxnLst/>
            <a:rect l="l" t="t" r="r" b="b"/>
            <a:pathLst>
              <a:path w="9901519" h="3467277">
                <a:moveTo>
                  <a:pt x="0" y="0"/>
                </a:moveTo>
                <a:lnTo>
                  <a:pt x="9901519" y="0"/>
                </a:lnTo>
                <a:lnTo>
                  <a:pt x="9901519" y="3467277"/>
                </a:lnTo>
                <a:lnTo>
                  <a:pt x="0" y="346727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1043773" y="0"/>
            <a:ext cx="4144945" cy="4114800"/>
          </a:xfrm>
          <a:custGeom>
            <a:avLst/>
            <a:gdLst/>
            <a:ahLst/>
            <a:cxnLst/>
            <a:rect l="l" t="t" r="r" b="b"/>
            <a:pathLst>
              <a:path w="4144945" h="4114800">
                <a:moveTo>
                  <a:pt x="0" y="0"/>
                </a:moveTo>
                <a:lnTo>
                  <a:pt x="4144946" y="0"/>
                </a:lnTo>
                <a:lnTo>
                  <a:pt x="414494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5876384" y="0"/>
            <a:ext cx="2411616" cy="4459074"/>
          </a:xfrm>
          <a:custGeom>
            <a:avLst/>
            <a:gdLst/>
            <a:ahLst/>
            <a:cxnLst/>
            <a:rect l="l" t="t" r="r" b="b"/>
            <a:pathLst>
              <a:path w="2411616" h="4459074">
                <a:moveTo>
                  <a:pt x="0" y="0"/>
                </a:moveTo>
                <a:lnTo>
                  <a:pt x="2411616" y="0"/>
                </a:lnTo>
                <a:lnTo>
                  <a:pt x="2411616" y="4459074"/>
                </a:lnTo>
                <a:lnTo>
                  <a:pt x="0" y="445907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-781885" y="7710036"/>
            <a:ext cx="3621170" cy="3096528"/>
          </a:xfrm>
          <a:custGeom>
            <a:avLst/>
            <a:gdLst/>
            <a:ahLst/>
            <a:cxnLst/>
            <a:rect l="l" t="t" r="r" b="b"/>
            <a:pathLst>
              <a:path w="3621170" h="3096528">
                <a:moveTo>
                  <a:pt x="0" y="0"/>
                </a:moveTo>
                <a:lnTo>
                  <a:pt x="3621170" y="0"/>
                </a:lnTo>
                <a:lnTo>
                  <a:pt x="3621170" y="3096528"/>
                </a:lnTo>
                <a:lnTo>
                  <a:pt x="0" y="309652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2839285" y="1599393"/>
            <a:ext cx="8487353" cy="973244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796"/>
              </a:lnSpc>
            </a:pPr>
            <a:r>
              <a:rPr lang="en-US" sz="5569" dirty="0">
                <a:solidFill>
                  <a:srgbClr val="FCCFA5"/>
                </a:solidFill>
                <a:latin typeface="Chromium One"/>
                <a:ea typeface="Chromium One"/>
                <a:cs typeface="Chromium One"/>
                <a:sym typeface="Chromium One"/>
              </a:rPr>
              <a:t>POWER BI — OVERVIEW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108757" y="2648837"/>
            <a:ext cx="12070486" cy="4057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1"/>
              </a:lnSpc>
              <a:spcBef>
                <a:spcPct val="0"/>
              </a:spcBef>
            </a:pPr>
            <a:r>
              <a:rPr lang="en-US" sz="2401">
                <a:solidFill>
                  <a:srgbClr val="EDC095"/>
                </a:solidFill>
                <a:latin typeface="Arima Madurai"/>
                <a:ea typeface="Arima Madurai"/>
                <a:cs typeface="Arima Madurai"/>
                <a:sym typeface="Arima Madurai"/>
              </a:rPr>
              <a:t>The Overview page provides a high-level summary of the Netflix dataset.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114133" y="3591374"/>
            <a:ext cx="3393648" cy="5234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93"/>
              </a:lnSpc>
              <a:spcBef>
                <a:spcPct val="0"/>
              </a:spcBef>
            </a:pPr>
            <a:r>
              <a:rPr lang="en-US" sz="3066">
                <a:solidFill>
                  <a:srgbClr val="FCCFA5"/>
                </a:solidFill>
                <a:latin typeface="Fredoka"/>
                <a:ea typeface="Fredoka"/>
                <a:cs typeface="Fredoka"/>
                <a:sym typeface="Fredoka"/>
              </a:rPr>
              <a:t>It focuses on :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691648" y="4200525"/>
            <a:ext cx="6514258" cy="2826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84993" lvl="1" indent="-292496" algn="l">
              <a:lnSpc>
                <a:spcPts val="3793"/>
              </a:lnSpc>
              <a:buFont typeface="Arial"/>
              <a:buChar char="•"/>
            </a:pPr>
            <a:r>
              <a:rPr lang="en-US" sz="2709">
                <a:solidFill>
                  <a:srgbClr val="FCCFA5"/>
                </a:solidFill>
                <a:latin typeface="Arima Madurai"/>
                <a:ea typeface="Arima Madurai"/>
                <a:cs typeface="Arima Madurai"/>
                <a:sym typeface="Arima Madurai"/>
              </a:rPr>
              <a:t>Total number of titles.</a:t>
            </a:r>
          </a:p>
          <a:p>
            <a:pPr marL="584993" lvl="1" indent="-292496" algn="l">
              <a:lnSpc>
                <a:spcPts val="3793"/>
              </a:lnSpc>
              <a:buFont typeface="Arial"/>
              <a:buChar char="•"/>
            </a:pPr>
            <a:r>
              <a:rPr lang="en-US" sz="2709">
                <a:solidFill>
                  <a:srgbClr val="FCCFA5"/>
                </a:solidFill>
                <a:latin typeface="Arima Madurai"/>
                <a:ea typeface="Arima Madurai"/>
                <a:cs typeface="Arima Madurai"/>
                <a:sym typeface="Arima Madurai"/>
              </a:rPr>
              <a:t>Total Movies.</a:t>
            </a:r>
          </a:p>
          <a:p>
            <a:pPr marL="584993" lvl="1" indent="-292496" algn="l">
              <a:lnSpc>
                <a:spcPts val="3793"/>
              </a:lnSpc>
              <a:buFont typeface="Arial"/>
              <a:buChar char="•"/>
            </a:pPr>
            <a:r>
              <a:rPr lang="en-US" sz="2709">
                <a:solidFill>
                  <a:srgbClr val="FCCFA5"/>
                </a:solidFill>
                <a:latin typeface="Arima Madurai"/>
                <a:ea typeface="Arima Madurai"/>
                <a:cs typeface="Arima Madurai"/>
                <a:sym typeface="Arima Madurai"/>
              </a:rPr>
              <a:t>Total TV Shows.</a:t>
            </a:r>
          </a:p>
          <a:p>
            <a:pPr marL="584993" lvl="1" indent="-292496" algn="l">
              <a:lnSpc>
                <a:spcPts val="3793"/>
              </a:lnSpc>
              <a:buFont typeface="Arial"/>
              <a:buChar char="•"/>
            </a:pPr>
            <a:r>
              <a:rPr lang="en-US" sz="2709">
                <a:solidFill>
                  <a:srgbClr val="FCCFA5"/>
                </a:solidFill>
                <a:latin typeface="Arima Madurai"/>
                <a:ea typeface="Arima Madurai"/>
                <a:cs typeface="Arima Madurai"/>
                <a:sym typeface="Arima Madurai"/>
              </a:rPr>
              <a:t>Average Release Year.</a:t>
            </a:r>
          </a:p>
          <a:p>
            <a:pPr marL="584993" lvl="1" indent="-292496" algn="l">
              <a:lnSpc>
                <a:spcPts val="3793"/>
              </a:lnSpc>
              <a:buFont typeface="Arial"/>
              <a:buChar char="•"/>
            </a:pPr>
            <a:r>
              <a:rPr lang="en-US" sz="2709">
                <a:solidFill>
                  <a:srgbClr val="FCCFA5"/>
                </a:solidFill>
                <a:latin typeface="Arima Madurai"/>
                <a:ea typeface="Arima Madurai"/>
                <a:cs typeface="Arima Madurai"/>
                <a:sym typeface="Arima Madurai"/>
              </a:rPr>
              <a:t>Distribution of Movies and TV Shows.</a:t>
            </a:r>
          </a:p>
          <a:p>
            <a:pPr marL="584993" lvl="1" indent="-292496" algn="l">
              <a:lnSpc>
                <a:spcPts val="3793"/>
              </a:lnSpc>
              <a:buFont typeface="Arial"/>
              <a:buChar char="•"/>
            </a:pPr>
            <a:r>
              <a:rPr lang="en-US" sz="2709">
                <a:solidFill>
                  <a:srgbClr val="FCCFA5"/>
                </a:solidFill>
                <a:latin typeface="Arima Madurai"/>
                <a:ea typeface="Arima Madurai"/>
                <a:cs typeface="Arima Madurai"/>
                <a:sym typeface="Arima Madurai"/>
              </a:rPr>
              <a:t>Content distribution by country.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618582" y="7392552"/>
            <a:ext cx="3939233" cy="5415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20"/>
              </a:lnSpc>
              <a:spcBef>
                <a:spcPct val="0"/>
              </a:spcBef>
            </a:pPr>
            <a:r>
              <a:rPr lang="en-US" sz="3157">
                <a:solidFill>
                  <a:srgbClr val="FCCFA5"/>
                </a:solidFill>
                <a:latin typeface="Fredoka"/>
                <a:ea typeface="Fredoka"/>
                <a:cs typeface="Fredoka"/>
                <a:sym typeface="Fredoka"/>
              </a:rPr>
              <a:t>Interactive Feature 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132797" y="8010328"/>
            <a:ext cx="14022406" cy="4226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76"/>
              </a:lnSpc>
              <a:spcBef>
                <a:spcPct val="0"/>
              </a:spcBef>
            </a:pPr>
            <a:r>
              <a:rPr lang="en-US" sz="2483">
                <a:solidFill>
                  <a:srgbClr val="FCCFA5"/>
                </a:solidFill>
                <a:latin typeface="Arima Madurai"/>
                <a:ea typeface="Arima Madurai"/>
                <a:cs typeface="Arima Madurai"/>
                <a:sym typeface="Arima Madurai"/>
              </a:rPr>
              <a:t>The Country Slicer allows users to select a specific country and explore its content distribution.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7952BC6-550F-19C4-500E-D536BB7C021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50937" y="3207255"/>
            <a:ext cx="7455927" cy="4185297"/>
          </a:xfrm>
          <a:prstGeom prst="roundRect">
            <a:avLst>
              <a:gd name="adj" fmla="val 20246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innerShdw blurRad="114300">
              <a:prstClr val="black"/>
            </a:innerShdw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456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386481" y="7306081"/>
            <a:ext cx="9901519" cy="3467277"/>
          </a:xfrm>
          <a:custGeom>
            <a:avLst/>
            <a:gdLst/>
            <a:ahLst/>
            <a:cxnLst/>
            <a:rect l="l" t="t" r="r" b="b"/>
            <a:pathLst>
              <a:path w="9901519" h="3467277">
                <a:moveTo>
                  <a:pt x="0" y="0"/>
                </a:moveTo>
                <a:lnTo>
                  <a:pt x="9901519" y="0"/>
                </a:lnTo>
                <a:lnTo>
                  <a:pt x="9901519" y="3467277"/>
                </a:lnTo>
                <a:lnTo>
                  <a:pt x="0" y="346727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1043773" y="0"/>
            <a:ext cx="4144945" cy="4114800"/>
          </a:xfrm>
          <a:custGeom>
            <a:avLst/>
            <a:gdLst/>
            <a:ahLst/>
            <a:cxnLst/>
            <a:rect l="l" t="t" r="r" b="b"/>
            <a:pathLst>
              <a:path w="4144945" h="4114800">
                <a:moveTo>
                  <a:pt x="0" y="0"/>
                </a:moveTo>
                <a:lnTo>
                  <a:pt x="4144946" y="0"/>
                </a:lnTo>
                <a:lnTo>
                  <a:pt x="414494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5876384" y="0"/>
            <a:ext cx="2411616" cy="4459074"/>
          </a:xfrm>
          <a:custGeom>
            <a:avLst/>
            <a:gdLst/>
            <a:ahLst/>
            <a:cxnLst/>
            <a:rect l="l" t="t" r="r" b="b"/>
            <a:pathLst>
              <a:path w="2411616" h="4459074">
                <a:moveTo>
                  <a:pt x="0" y="0"/>
                </a:moveTo>
                <a:lnTo>
                  <a:pt x="2411616" y="0"/>
                </a:lnTo>
                <a:lnTo>
                  <a:pt x="2411616" y="4459074"/>
                </a:lnTo>
                <a:lnTo>
                  <a:pt x="0" y="445907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-781885" y="7710036"/>
            <a:ext cx="3621170" cy="3096528"/>
          </a:xfrm>
          <a:custGeom>
            <a:avLst/>
            <a:gdLst/>
            <a:ahLst/>
            <a:cxnLst/>
            <a:rect l="l" t="t" r="r" b="b"/>
            <a:pathLst>
              <a:path w="3621170" h="3096528">
                <a:moveTo>
                  <a:pt x="0" y="0"/>
                </a:moveTo>
                <a:lnTo>
                  <a:pt x="3621170" y="0"/>
                </a:lnTo>
                <a:lnTo>
                  <a:pt x="3621170" y="3096528"/>
                </a:lnTo>
                <a:lnTo>
                  <a:pt x="0" y="309652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2839285" y="1599393"/>
            <a:ext cx="11055533" cy="973244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796"/>
              </a:lnSpc>
            </a:pPr>
            <a:r>
              <a:rPr lang="en-US" sz="5569" dirty="0">
                <a:solidFill>
                  <a:srgbClr val="FCCFA5"/>
                </a:solidFill>
                <a:latin typeface="Chromium One"/>
                <a:ea typeface="Chromium One"/>
                <a:cs typeface="Chromium One"/>
                <a:sym typeface="Chromium One"/>
              </a:rPr>
              <a:t>POWER BI — CONTENT ANALYSIS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108757" y="2648837"/>
            <a:ext cx="12070486" cy="4057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1"/>
              </a:lnSpc>
              <a:spcBef>
                <a:spcPct val="0"/>
              </a:spcBef>
            </a:pPr>
            <a:r>
              <a:rPr lang="en-US" sz="2401">
                <a:solidFill>
                  <a:srgbClr val="EDC095"/>
                </a:solidFill>
                <a:latin typeface="Arima Madurai"/>
                <a:ea typeface="Arima Madurai"/>
                <a:cs typeface="Arima Madurai"/>
                <a:sym typeface="Arima Madurai"/>
              </a:rPr>
              <a:t>This page provides a deeper analysis of Netflix content.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504969" y="3935648"/>
            <a:ext cx="3393648" cy="5234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93"/>
              </a:lnSpc>
              <a:spcBef>
                <a:spcPct val="0"/>
              </a:spcBef>
            </a:pPr>
            <a:r>
              <a:rPr lang="en-US" sz="3066">
                <a:solidFill>
                  <a:srgbClr val="FCCFA5"/>
                </a:solidFill>
                <a:latin typeface="Fredoka"/>
                <a:ea typeface="Fredoka"/>
                <a:cs typeface="Fredoka"/>
                <a:sym typeface="Fredoka"/>
              </a:rPr>
              <a:t>Analysis Areas :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410753" y="4687356"/>
            <a:ext cx="6975728" cy="18742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84993" lvl="1" indent="-292496" algn="l">
              <a:lnSpc>
                <a:spcPts val="3793"/>
              </a:lnSpc>
              <a:buFont typeface="Arial"/>
              <a:buChar char="•"/>
            </a:pPr>
            <a:r>
              <a:rPr lang="en-US" sz="2709">
                <a:solidFill>
                  <a:srgbClr val="FCCFA5"/>
                </a:solidFill>
                <a:latin typeface="Arima Madurai"/>
                <a:ea typeface="Arima Madurai"/>
                <a:cs typeface="Arima Madurai"/>
                <a:sym typeface="Arima Madurai"/>
              </a:rPr>
              <a:t>Content by country.</a:t>
            </a:r>
          </a:p>
          <a:p>
            <a:pPr marL="584993" lvl="1" indent="-292496" algn="l">
              <a:lnSpc>
                <a:spcPts val="3793"/>
              </a:lnSpc>
              <a:buFont typeface="Arial"/>
              <a:buChar char="•"/>
            </a:pPr>
            <a:r>
              <a:rPr lang="en-US" sz="2709">
                <a:solidFill>
                  <a:srgbClr val="FCCFA5"/>
                </a:solidFill>
                <a:latin typeface="Arima Madurai"/>
                <a:ea typeface="Arima Madurai"/>
                <a:cs typeface="Arima Madurai"/>
                <a:sym typeface="Arima Madurai"/>
              </a:rPr>
              <a:t>Content ratings.</a:t>
            </a:r>
          </a:p>
          <a:p>
            <a:pPr marL="584993" lvl="1" indent="-292496" algn="l">
              <a:lnSpc>
                <a:spcPts val="3793"/>
              </a:lnSpc>
              <a:buFont typeface="Arial"/>
              <a:buChar char="•"/>
            </a:pPr>
            <a:r>
              <a:rPr lang="en-US" sz="2709">
                <a:solidFill>
                  <a:srgbClr val="FCCFA5"/>
                </a:solidFill>
                <a:latin typeface="Arima Madurai"/>
                <a:ea typeface="Arima Madurai"/>
                <a:cs typeface="Arima Madurai"/>
                <a:sym typeface="Arima Madurai"/>
              </a:rPr>
              <a:t>Movies versus TV Shows.</a:t>
            </a:r>
          </a:p>
          <a:p>
            <a:pPr marL="584993" lvl="1" indent="-292496" algn="l">
              <a:lnSpc>
                <a:spcPts val="3793"/>
              </a:lnSpc>
              <a:buFont typeface="Arial"/>
              <a:buChar char="•"/>
            </a:pPr>
            <a:r>
              <a:rPr lang="en-US" sz="2709">
                <a:solidFill>
                  <a:srgbClr val="FCCFA5"/>
                </a:solidFill>
                <a:latin typeface="Arima Madurai"/>
                <a:ea typeface="Arima Madurai"/>
                <a:cs typeface="Arima Madurai"/>
                <a:sym typeface="Arima Madurai"/>
              </a:rPr>
              <a:t>Distribution across different categories.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618010" y="7016700"/>
            <a:ext cx="4561214" cy="5415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20"/>
              </a:lnSpc>
              <a:spcBef>
                <a:spcPct val="0"/>
              </a:spcBef>
            </a:pPr>
            <a:r>
              <a:rPr lang="en-US" sz="3157">
                <a:solidFill>
                  <a:srgbClr val="FCCFA5"/>
                </a:solidFill>
                <a:latin typeface="Fredoka"/>
                <a:ea typeface="Fredoka"/>
                <a:cs typeface="Fredoka"/>
                <a:sym typeface="Fredoka"/>
              </a:rPr>
              <a:t>Visualizations Used : 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478263" y="7510652"/>
            <a:ext cx="6398121" cy="8608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76"/>
              </a:lnSpc>
              <a:spcBef>
                <a:spcPct val="0"/>
              </a:spcBef>
            </a:pPr>
            <a:r>
              <a:rPr lang="en-US" sz="2483">
                <a:solidFill>
                  <a:srgbClr val="FCCFA5"/>
                </a:solidFill>
                <a:latin typeface="Arima Madurai"/>
                <a:ea typeface="Arima Madurai"/>
                <a:cs typeface="Arima Madurai"/>
                <a:sym typeface="Arima Madurai"/>
              </a:rPr>
              <a:t>Interactive filters allow users to focus on specific countries or content types.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618010" y="7662411"/>
            <a:ext cx="2783427" cy="12363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1219" lvl="1" indent="-255610" algn="l">
              <a:lnSpc>
                <a:spcPts val="3314"/>
              </a:lnSpc>
              <a:buFont typeface="Arial"/>
              <a:buChar char="•"/>
            </a:pPr>
            <a:r>
              <a:rPr lang="en-US" sz="2367" b="1">
                <a:solidFill>
                  <a:srgbClr val="FCCFA5"/>
                </a:solidFill>
                <a:latin typeface="Arima Madurai Bold"/>
                <a:ea typeface="Arima Madurai Bold"/>
                <a:cs typeface="Arima Madurai Bold"/>
                <a:sym typeface="Arima Madurai Bold"/>
              </a:rPr>
              <a:t>Bar Charts</a:t>
            </a:r>
          </a:p>
          <a:p>
            <a:pPr marL="511219" lvl="1" indent="-255610" algn="l">
              <a:lnSpc>
                <a:spcPts val="3314"/>
              </a:lnSpc>
              <a:buFont typeface="Arial"/>
              <a:buChar char="•"/>
            </a:pPr>
            <a:r>
              <a:rPr lang="en-US" sz="2367" b="1">
                <a:solidFill>
                  <a:srgbClr val="FCCFA5"/>
                </a:solidFill>
                <a:latin typeface="Arima Madurai Bold"/>
                <a:ea typeface="Arima Madurai Bold"/>
                <a:cs typeface="Arima Madurai Bold"/>
                <a:sym typeface="Arima Madurai Bold"/>
              </a:rPr>
              <a:t>Line Charts</a:t>
            </a:r>
          </a:p>
          <a:p>
            <a:pPr marL="511219" lvl="1" indent="-255610" algn="l">
              <a:lnSpc>
                <a:spcPts val="3314"/>
              </a:lnSpc>
              <a:buFont typeface="Arial"/>
              <a:buChar char="•"/>
            </a:pPr>
            <a:r>
              <a:rPr lang="en-US" sz="2367" b="1">
                <a:solidFill>
                  <a:srgbClr val="FCCFA5"/>
                </a:solidFill>
                <a:latin typeface="Arima Madurai Bold"/>
                <a:ea typeface="Arima Madurai Bold"/>
                <a:cs typeface="Arima Madurai Bold"/>
                <a:sym typeface="Arima Madurai Bold"/>
              </a:rPr>
              <a:t>Pie Charts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87C10E7-ADB2-9C4C-9EAC-D562362BE34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83622" y="3223760"/>
            <a:ext cx="7341984" cy="4063728"/>
          </a:xfrm>
          <a:prstGeom prst="roundRect">
            <a:avLst>
              <a:gd name="adj" fmla="val 17595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innerShdw blurRad="114300">
              <a:prstClr val="black"/>
            </a:innerShdw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456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386481" y="7306081"/>
            <a:ext cx="9901519" cy="3467277"/>
          </a:xfrm>
          <a:custGeom>
            <a:avLst/>
            <a:gdLst/>
            <a:ahLst/>
            <a:cxnLst/>
            <a:rect l="l" t="t" r="r" b="b"/>
            <a:pathLst>
              <a:path w="9901519" h="3467277">
                <a:moveTo>
                  <a:pt x="0" y="0"/>
                </a:moveTo>
                <a:lnTo>
                  <a:pt x="9901519" y="0"/>
                </a:lnTo>
                <a:lnTo>
                  <a:pt x="9901519" y="3467277"/>
                </a:lnTo>
                <a:lnTo>
                  <a:pt x="0" y="346727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1043773" y="0"/>
            <a:ext cx="4144945" cy="4114800"/>
          </a:xfrm>
          <a:custGeom>
            <a:avLst/>
            <a:gdLst/>
            <a:ahLst/>
            <a:cxnLst/>
            <a:rect l="l" t="t" r="r" b="b"/>
            <a:pathLst>
              <a:path w="4144945" h="4114800">
                <a:moveTo>
                  <a:pt x="0" y="0"/>
                </a:moveTo>
                <a:lnTo>
                  <a:pt x="4144946" y="0"/>
                </a:lnTo>
                <a:lnTo>
                  <a:pt x="414494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5876384" y="0"/>
            <a:ext cx="2411616" cy="4459074"/>
          </a:xfrm>
          <a:custGeom>
            <a:avLst/>
            <a:gdLst/>
            <a:ahLst/>
            <a:cxnLst/>
            <a:rect l="l" t="t" r="r" b="b"/>
            <a:pathLst>
              <a:path w="2411616" h="4459074">
                <a:moveTo>
                  <a:pt x="0" y="0"/>
                </a:moveTo>
                <a:lnTo>
                  <a:pt x="2411616" y="0"/>
                </a:lnTo>
                <a:lnTo>
                  <a:pt x="2411616" y="4459074"/>
                </a:lnTo>
                <a:lnTo>
                  <a:pt x="0" y="445907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-781885" y="7710036"/>
            <a:ext cx="3621170" cy="3096528"/>
          </a:xfrm>
          <a:custGeom>
            <a:avLst/>
            <a:gdLst/>
            <a:ahLst/>
            <a:cxnLst/>
            <a:rect l="l" t="t" r="r" b="b"/>
            <a:pathLst>
              <a:path w="3621170" h="3096528">
                <a:moveTo>
                  <a:pt x="0" y="0"/>
                </a:moveTo>
                <a:lnTo>
                  <a:pt x="3621170" y="0"/>
                </a:lnTo>
                <a:lnTo>
                  <a:pt x="3621170" y="3096528"/>
                </a:lnTo>
                <a:lnTo>
                  <a:pt x="0" y="309652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2668108" y="1458576"/>
            <a:ext cx="11436747" cy="973244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796"/>
              </a:lnSpc>
            </a:pPr>
            <a:r>
              <a:rPr lang="en-US" sz="5569" dirty="0">
                <a:solidFill>
                  <a:srgbClr val="FCCFA5"/>
                </a:solidFill>
                <a:latin typeface="Chromium One"/>
                <a:ea typeface="Chromium One"/>
                <a:cs typeface="Chromium One"/>
                <a:sym typeface="Chromium One"/>
              </a:rPr>
              <a:t>POWER BI — CONTENT TRENDS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525036" y="4627384"/>
            <a:ext cx="7116676" cy="1886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80416" lvl="1" indent="-290208" algn="l">
              <a:lnSpc>
                <a:spcPts val="3763"/>
              </a:lnSpc>
              <a:buFont typeface="Arial"/>
              <a:buChar char="•"/>
            </a:pPr>
            <a:r>
              <a:rPr lang="en-US" sz="2688" b="1">
                <a:solidFill>
                  <a:srgbClr val="FCCFA5"/>
                </a:solidFill>
                <a:latin typeface="Arima Madurai Bold"/>
                <a:ea typeface="Arima Madurai Bold"/>
                <a:cs typeface="Arima Madurai Bold"/>
                <a:sym typeface="Arima Madurai Bold"/>
              </a:rPr>
              <a:t>Content distribution by release year.</a:t>
            </a:r>
          </a:p>
          <a:p>
            <a:pPr marL="580416" lvl="1" indent="-290208" algn="l">
              <a:lnSpc>
                <a:spcPts val="3763"/>
              </a:lnSpc>
              <a:buFont typeface="Arial"/>
              <a:buChar char="•"/>
            </a:pPr>
            <a:r>
              <a:rPr lang="en-US" sz="2688" b="1">
                <a:solidFill>
                  <a:srgbClr val="FCCFA5"/>
                </a:solidFill>
                <a:latin typeface="Arima Madurai Bold"/>
                <a:ea typeface="Arima Madurai Bold"/>
                <a:cs typeface="Arima Madurai Bold"/>
                <a:sym typeface="Arima Madurai Bold"/>
              </a:rPr>
              <a:t>Movies versus TV Shows over time.</a:t>
            </a:r>
          </a:p>
          <a:p>
            <a:pPr marL="580416" lvl="1" indent="-290208" algn="l">
              <a:lnSpc>
                <a:spcPts val="3763"/>
              </a:lnSpc>
              <a:buFont typeface="Arial"/>
              <a:buChar char="•"/>
            </a:pPr>
            <a:r>
              <a:rPr lang="en-US" sz="2688" b="1">
                <a:solidFill>
                  <a:srgbClr val="FCCFA5"/>
                </a:solidFill>
                <a:latin typeface="Arima Madurai Bold"/>
                <a:ea typeface="Arima Madurai Bold"/>
                <a:cs typeface="Arima Madurai Bold"/>
                <a:sym typeface="Arima Madurai Bold"/>
              </a:rPr>
              <a:t>Trends across different countries.</a:t>
            </a:r>
          </a:p>
          <a:p>
            <a:pPr marL="580416" lvl="1" indent="-290208" algn="l">
              <a:lnSpc>
                <a:spcPts val="3763"/>
              </a:lnSpc>
              <a:buFont typeface="Arial"/>
              <a:buChar char="•"/>
            </a:pPr>
            <a:r>
              <a:rPr lang="en-US" sz="2688" b="1">
                <a:solidFill>
                  <a:srgbClr val="FCCFA5"/>
                </a:solidFill>
                <a:latin typeface="Arima Madurai Bold"/>
                <a:ea typeface="Arima Madurai Bold"/>
                <a:cs typeface="Arima Madurai Bold"/>
                <a:sym typeface="Arima Madurai Bold"/>
              </a:rPr>
              <a:t>Comparison between content types.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960725" y="2593745"/>
            <a:ext cx="12070486" cy="8248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1"/>
              </a:lnSpc>
              <a:spcBef>
                <a:spcPct val="0"/>
              </a:spcBef>
            </a:pPr>
            <a:r>
              <a:rPr lang="en-US" sz="2401">
                <a:solidFill>
                  <a:srgbClr val="EDC095"/>
                </a:solidFill>
                <a:latin typeface="Arima Madurai"/>
                <a:ea typeface="Arima Madurai"/>
                <a:cs typeface="Arima Madurai"/>
                <a:sym typeface="Arima Madurai"/>
              </a:rPr>
              <a:t>The Content Trends page focuses on how Netflix content is distributed across different release years and content types.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839285" y="7015793"/>
            <a:ext cx="3964404" cy="5234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93"/>
              </a:lnSpc>
              <a:spcBef>
                <a:spcPct val="0"/>
              </a:spcBef>
            </a:pPr>
            <a:r>
              <a:rPr lang="en-US" sz="3066">
                <a:solidFill>
                  <a:srgbClr val="FCCFA5"/>
                </a:solidFill>
                <a:latin typeface="Fredoka"/>
                <a:ea typeface="Fredoka"/>
                <a:cs typeface="Fredoka"/>
                <a:sym typeface="Fredoka"/>
              </a:rPr>
              <a:t>Interactive Filters :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668108" y="7710669"/>
            <a:ext cx="4994959" cy="921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84993" lvl="1" indent="-292496" algn="l">
              <a:lnSpc>
                <a:spcPts val="3793"/>
              </a:lnSpc>
              <a:buFont typeface="Arial"/>
              <a:buChar char="•"/>
            </a:pPr>
            <a:r>
              <a:rPr lang="en-US" sz="2709">
                <a:solidFill>
                  <a:srgbClr val="FCCFA5"/>
                </a:solidFill>
                <a:latin typeface="Arima Madurai"/>
                <a:ea typeface="Arima Madurai"/>
                <a:cs typeface="Arima Madurai"/>
                <a:sym typeface="Arima Madurai"/>
              </a:rPr>
              <a:t>Country</a:t>
            </a:r>
          </a:p>
          <a:p>
            <a:pPr marL="584993" lvl="1" indent="-292496" algn="l">
              <a:lnSpc>
                <a:spcPts val="3793"/>
              </a:lnSpc>
              <a:buFont typeface="Arial"/>
              <a:buChar char="•"/>
            </a:pPr>
            <a:r>
              <a:rPr lang="en-US" sz="2709">
                <a:solidFill>
                  <a:srgbClr val="FCCFA5"/>
                </a:solidFill>
                <a:latin typeface="Arima Madurai"/>
                <a:ea typeface="Arima Madurai"/>
                <a:cs typeface="Arima Madurai"/>
                <a:sym typeface="Arima Madurai"/>
              </a:rPr>
              <a:t>Content Type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878719" y="3825132"/>
            <a:ext cx="2942768" cy="5126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14"/>
              </a:lnSpc>
              <a:spcBef>
                <a:spcPct val="0"/>
              </a:spcBef>
            </a:pPr>
            <a:r>
              <a:rPr lang="en-US" sz="2939">
                <a:solidFill>
                  <a:srgbClr val="FCCFA5"/>
                </a:solidFill>
                <a:latin typeface="Fredoka"/>
                <a:ea typeface="Fredoka"/>
                <a:cs typeface="Fredoka"/>
                <a:sym typeface="Fredoka"/>
              </a:rPr>
              <a:t>Main Analysis :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641712" y="7662411"/>
            <a:ext cx="8765662" cy="8608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76"/>
              </a:lnSpc>
              <a:spcBef>
                <a:spcPct val="0"/>
              </a:spcBef>
            </a:pPr>
            <a:r>
              <a:rPr lang="en-US" sz="2483">
                <a:solidFill>
                  <a:srgbClr val="FCCFA5"/>
                </a:solidFill>
                <a:latin typeface="Arima Madurai"/>
                <a:ea typeface="Arima Madurai"/>
                <a:cs typeface="Arima Madurai"/>
                <a:sym typeface="Arima Madurai"/>
              </a:rPr>
              <a:t>These visualizations help identify changes and </a:t>
            </a:r>
          </a:p>
          <a:p>
            <a:pPr algn="ctr">
              <a:lnSpc>
                <a:spcPts val="3476"/>
              </a:lnSpc>
              <a:spcBef>
                <a:spcPct val="0"/>
              </a:spcBef>
            </a:pPr>
            <a:r>
              <a:rPr lang="en-US" sz="2483">
                <a:solidFill>
                  <a:srgbClr val="FCCFA5"/>
                </a:solidFill>
                <a:latin typeface="Arima Madurai"/>
                <a:ea typeface="Arima Madurai"/>
                <a:cs typeface="Arima Madurai"/>
                <a:sym typeface="Arima Madurai"/>
              </a:rPr>
              <a:t>patterns in Netflix content over time.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D6EE82A2-EDC6-A22B-0E89-1D863C4A8BF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97165" y="3193410"/>
            <a:ext cx="7386358" cy="4112671"/>
          </a:xfrm>
          <a:prstGeom prst="roundRect">
            <a:avLst>
              <a:gd name="adj" fmla="val 23046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innerShdw blurRad="114300">
              <a:prstClr val="black"/>
            </a:innerShdw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456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386481" y="7306081"/>
            <a:ext cx="9901519" cy="3467277"/>
          </a:xfrm>
          <a:custGeom>
            <a:avLst/>
            <a:gdLst/>
            <a:ahLst/>
            <a:cxnLst/>
            <a:rect l="l" t="t" r="r" b="b"/>
            <a:pathLst>
              <a:path w="9901519" h="3467277">
                <a:moveTo>
                  <a:pt x="0" y="0"/>
                </a:moveTo>
                <a:lnTo>
                  <a:pt x="9901519" y="0"/>
                </a:lnTo>
                <a:lnTo>
                  <a:pt x="9901519" y="3467277"/>
                </a:lnTo>
                <a:lnTo>
                  <a:pt x="0" y="346727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1043773" y="0"/>
            <a:ext cx="4144945" cy="4114800"/>
          </a:xfrm>
          <a:custGeom>
            <a:avLst/>
            <a:gdLst/>
            <a:ahLst/>
            <a:cxnLst/>
            <a:rect l="l" t="t" r="r" b="b"/>
            <a:pathLst>
              <a:path w="4144945" h="4114800">
                <a:moveTo>
                  <a:pt x="0" y="0"/>
                </a:moveTo>
                <a:lnTo>
                  <a:pt x="4144946" y="0"/>
                </a:lnTo>
                <a:lnTo>
                  <a:pt x="414494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5876384" y="0"/>
            <a:ext cx="2411616" cy="4459074"/>
          </a:xfrm>
          <a:custGeom>
            <a:avLst/>
            <a:gdLst/>
            <a:ahLst/>
            <a:cxnLst/>
            <a:rect l="l" t="t" r="r" b="b"/>
            <a:pathLst>
              <a:path w="2411616" h="4459074">
                <a:moveTo>
                  <a:pt x="0" y="0"/>
                </a:moveTo>
                <a:lnTo>
                  <a:pt x="2411616" y="0"/>
                </a:lnTo>
                <a:lnTo>
                  <a:pt x="2411616" y="4459074"/>
                </a:lnTo>
                <a:lnTo>
                  <a:pt x="0" y="445907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-781885" y="7710036"/>
            <a:ext cx="3621170" cy="3096528"/>
          </a:xfrm>
          <a:custGeom>
            <a:avLst/>
            <a:gdLst/>
            <a:ahLst/>
            <a:cxnLst/>
            <a:rect l="l" t="t" r="r" b="b"/>
            <a:pathLst>
              <a:path w="3621170" h="3096528">
                <a:moveTo>
                  <a:pt x="0" y="0"/>
                </a:moveTo>
                <a:lnTo>
                  <a:pt x="3621170" y="0"/>
                </a:lnTo>
                <a:lnTo>
                  <a:pt x="3621170" y="3096528"/>
                </a:lnTo>
                <a:lnTo>
                  <a:pt x="0" y="309652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2119446" y="2036035"/>
            <a:ext cx="12534069" cy="973244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796"/>
              </a:lnSpc>
            </a:pPr>
            <a:r>
              <a:rPr lang="en-US" sz="5569" dirty="0">
                <a:solidFill>
                  <a:srgbClr val="FCCFA5"/>
                </a:solidFill>
                <a:latin typeface="Chromium One"/>
                <a:ea typeface="Chromium One"/>
                <a:cs typeface="Chromium One"/>
                <a:sym typeface="Chromium One"/>
              </a:rPr>
              <a:t>DATA VISUALIZATION — TABLEAU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797019" y="4881101"/>
            <a:ext cx="8807051" cy="33784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91201" lvl="1" indent="-295601" algn="l">
              <a:lnSpc>
                <a:spcPts val="3833"/>
              </a:lnSpc>
              <a:buFont typeface="Arial"/>
              <a:buChar char="•"/>
            </a:pPr>
            <a:r>
              <a:rPr lang="en-US" sz="2738" b="1">
                <a:solidFill>
                  <a:srgbClr val="FCCFA5"/>
                </a:solidFill>
                <a:latin typeface="Arima Madurai Bold"/>
                <a:ea typeface="Arima Madurai Bold"/>
                <a:cs typeface="Arima Madurai Bold"/>
                <a:sym typeface="Arima Madurai Bold"/>
              </a:rPr>
              <a:t>Create interactive visualizations.</a:t>
            </a:r>
          </a:p>
          <a:p>
            <a:pPr marL="591201" lvl="1" indent="-295601" algn="l">
              <a:lnSpc>
                <a:spcPts val="3833"/>
              </a:lnSpc>
              <a:buFont typeface="Arial"/>
              <a:buChar char="•"/>
            </a:pPr>
            <a:r>
              <a:rPr lang="en-US" sz="2738" b="1">
                <a:solidFill>
                  <a:srgbClr val="FCCFA5"/>
                </a:solidFill>
                <a:latin typeface="Arima Madurai Bold"/>
                <a:ea typeface="Arima Madurai Bold"/>
                <a:cs typeface="Arima Madurai Bold"/>
                <a:sym typeface="Arima Madurai Bold"/>
              </a:rPr>
              <a:t>Compare different content categories.</a:t>
            </a:r>
          </a:p>
          <a:p>
            <a:pPr marL="591201" lvl="1" indent="-295601" algn="l">
              <a:lnSpc>
                <a:spcPts val="3833"/>
              </a:lnSpc>
              <a:buFont typeface="Arial"/>
              <a:buChar char="•"/>
            </a:pPr>
            <a:r>
              <a:rPr lang="en-US" sz="2738" b="1">
                <a:solidFill>
                  <a:srgbClr val="FCCFA5"/>
                </a:solidFill>
                <a:latin typeface="Arima Madurai Bold"/>
                <a:ea typeface="Arima Madurai Bold"/>
                <a:cs typeface="Arima Madurai Bold"/>
                <a:sym typeface="Arima Madurai Bold"/>
              </a:rPr>
              <a:t>Identify trends and patterns.</a:t>
            </a:r>
          </a:p>
          <a:p>
            <a:pPr marL="591201" lvl="1" indent="-295601" algn="l">
              <a:lnSpc>
                <a:spcPts val="3833"/>
              </a:lnSpc>
              <a:buFont typeface="Arial"/>
              <a:buChar char="•"/>
            </a:pPr>
            <a:r>
              <a:rPr lang="en-US" sz="2738" b="1">
                <a:solidFill>
                  <a:srgbClr val="FCCFA5"/>
                </a:solidFill>
                <a:latin typeface="Arima Madurai Bold"/>
                <a:ea typeface="Arima Madurai Bold"/>
                <a:cs typeface="Arima Madurai Bold"/>
                <a:sym typeface="Arima Madurai Bold"/>
              </a:rPr>
              <a:t>Analyze relationships between different attributes.</a:t>
            </a:r>
          </a:p>
          <a:p>
            <a:pPr marL="591201" lvl="1" indent="-295601" algn="l">
              <a:lnSpc>
                <a:spcPts val="3833"/>
              </a:lnSpc>
              <a:buFont typeface="Arial"/>
              <a:buChar char="•"/>
            </a:pPr>
            <a:r>
              <a:rPr lang="en-US" sz="2738" b="1">
                <a:solidFill>
                  <a:srgbClr val="FCCFA5"/>
                </a:solidFill>
                <a:latin typeface="Arima Madurai Bold"/>
                <a:ea typeface="Arima Madurai Bold"/>
                <a:cs typeface="Arima Madurai Bold"/>
                <a:sym typeface="Arima Madurai Bold"/>
              </a:rPr>
              <a:t>Present data in a clear and understandable way.</a:t>
            </a:r>
          </a:p>
          <a:p>
            <a:pPr marL="591201" lvl="1" indent="-295601" algn="l">
              <a:lnSpc>
                <a:spcPts val="3833"/>
              </a:lnSpc>
              <a:buFont typeface="Arial"/>
              <a:buChar char="•"/>
            </a:pPr>
            <a:r>
              <a:rPr lang="en-US" sz="2738" b="1">
                <a:solidFill>
                  <a:srgbClr val="FCCFA5"/>
                </a:solidFill>
                <a:latin typeface="Arima Madurai Bold"/>
                <a:ea typeface="Arima Madurai Bold"/>
                <a:cs typeface="Arima Madurai Bold"/>
                <a:sym typeface="Arima Madurai Bold"/>
              </a:rPr>
              <a:t>Use filters to explore the dataset interactively.</a:t>
            </a:r>
          </a:p>
          <a:p>
            <a:pPr algn="ctr">
              <a:lnSpc>
                <a:spcPts val="3833"/>
              </a:lnSpc>
            </a:pPr>
            <a:endParaRPr lang="en-US" sz="2738" b="1">
              <a:solidFill>
                <a:srgbClr val="FCCFA5"/>
              </a:solidFill>
              <a:latin typeface="Arima Madurai Bold"/>
              <a:ea typeface="Arima Madurai Bold"/>
              <a:cs typeface="Arima Madurai Bold"/>
              <a:sym typeface="Arima Madurai 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2839285" y="3104530"/>
            <a:ext cx="12070486" cy="4057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1"/>
              </a:lnSpc>
              <a:spcBef>
                <a:spcPct val="0"/>
              </a:spcBef>
            </a:pPr>
            <a:r>
              <a:rPr lang="en-US" sz="2401">
                <a:solidFill>
                  <a:srgbClr val="EDC095"/>
                </a:solidFill>
                <a:latin typeface="Arima Madurai"/>
                <a:ea typeface="Arima Madurai"/>
                <a:cs typeface="Arima Madurai"/>
                <a:sym typeface="Arima Madurai"/>
              </a:rPr>
              <a:t>Tableau was used as an additional visualization and dashboarding tool.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119446" y="4048125"/>
            <a:ext cx="3361259" cy="5128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16"/>
              </a:lnSpc>
              <a:spcBef>
                <a:spcPct val="0"/>
              </a:spcBef>
            </a:pPr>
            <a:r>
              <a:rPr lang="en-US" sz="2940">
                <a:solidFill>
                  <a:srgbClr val="FCCFA5"/>
                </a:solidFill>
                <a:latin typeface="Fredoka"/>
                <a:ea typeface="Fredoka"/>
                <a:cs typeface="Fredoka"/>
                <a:sym typeface="Fredoka"/>
              </a:rPr>
              <a:t>Main Purposes :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446754" y="4609176"/>
            <a:ext cx="1490729" cy="572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56"/>
              </a:lnSpc>
              <a:spcBef>
                <a:spcPct val="0"/>
              </a:spcBef>
            </a:pPr>
            <a:r>
              <a:rPr lang="en-US" sz="3326">
                <a:solidFill>
                  <a:srgbClr val="FCCFA5"/>
                </a:solidFill>
                <a:latin typeface="Fredoka"/>
                <a:ea typeface="Fredoka"/>
                <a:cs typeface="Fredoka"/>
                <a:sym typeface="Fredoka"/>
              </a:rPr>
              <a:t>Goal :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446754" y="5362575"/>
            <a:ext cx="5208895" cy="1398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93"/>
              </a:lnSpc>
            </a:pPr>
            <a:r>
              <a:rPr lang="en-US" sz="2709">
                <a:solidFill>
                  <a:srgbClr val="FCCFA5"/>
                </a:solidFill>
                <a:latin typeface="Arima Madurai"/>
                <a:ea typeface="Arima Madurai"/>
                <a:cs typeface="Arima Madurai"/>
                <a:sym typeface="Arima Madurai"/>
              </a:rPr>
              <a:t>To communicate the results of </a:t>
            </a:r>
          </a:p>
          <a:p>
            <a:pPr algn="l">
              <a:lnSpc>
                <a:spcPts val="3793"/>
              </a:lnSpc>
            </a:pPr>
            <a:r>
              <a:rPr lang="en-US" sz="2709">
                <a:solidFill>
                  <a:srgbClr val="FCCFA5"/>
                </a:solidFill>
                <a:latin typeface="Arima Madurai"/>
                <a:ea typeface="Arima Madurai"/>
                <a:cs typeface="Arima Madurai"/>
                <a:sym typeface="Arima Madurai"/>
              </a:rPr>
              <a:t>the analysis through clear and</a:t>
            </a:r>
          </a:p>
          <a:p>
            <a:pPr algn="l">
              <a:lnSpc>
                <a:spcPts val="3793"/>
              </a:lnSpc>
            </a:pPr>
            <a:r>
              <a:rPr lang="en-US" sz="2709">
                <a:solidFill>
                  <a:srgbClr val="FCCFA5"/>
                </a:solidFill>
                <a:latin typeface="Arima Madurai"/>
                <a:ea typeface="Arima Madurai"/>
                <a:cs typeface="Arima Madurai"/>
                <a:sym typeface="Arima Madurai"/>
              </a:rPr>
              <a:t> interactive visualizations.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CFA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767726">
            <a:off x="-1372334" y="3877880"/>
            <a:ext cx="4802068" cy="6856383"/>
          </a:xfrm>
          <a:custGeom>
            <a:avLst/>
            <a:gdLst/>
            <a:ahLst/>
            <a:cxnLst/>
            <a:rect l="l" t="t" r="r" b="b"/>
            <a:pathLst>
              <a:path w="4802068" h="6856383">
                <a:moveTo>
                  <a:pt x="0" y="0"/>
                </a:moveTo>
                <a:lnTo>
                  <a:pt x="4802068" y="0"/>
                </a:lnTo>
                <a:lnTo>
                  <a:pt x="4802068" y="6856383"/>
                </a:lnTo>
                <a:lnTo>
                  <a:pt x="0" y="685638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2738187" y="7513133"/>
            <a:ext cx="13794529" cy="4078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5"/>
              </a:lnSpc>
            </a:pPr>
            <a:r>
              <a:rPr lang="en-US" sz="2318">
                <a:solidFill>
                  <a:srgbClr val="74564A"/>
                </a:solidFill>
                <a:latin typeface="Arima Madurai"/>
                <a:ea typeface="Arima Madurai"/>
                <a:cs typeface="Arima Madurai"/>
                <a:sym typeface="Arima Madurai"/>
              </a:rPr>
              <a:t>Combining Excel, SQL, Python, Power BI, and Tableau provides a broader understanding of the dataset.</a:t>
            </a:r>
          </a:p>
        </p:txBody>
      </p:sp>
      <p:sp>
        <p:nvSpPr>
          <p:cNvPr id="4" name="Freeform 4"/>
          <p:cNvSpPr/>
          <p:nvPr/>
        </p:nvSpPr>
        <p:spPr>
          <a:xfrm rot="1227526" flipH="1">
            <a:off x="15328806" y="3992490"/>
            <a:ext cx="4802068" cy="6856383"/>
          </a:xfrm>
          <a:custGeom>
            <a:avLst/>
            <a:gdLst/>
            <a:ahLst/>
            <a:cxnLst/>
            <a:rect l="l" t="t" r="r" b="b"/>
            <a:pathLst>
              <a:path w="4802068" h="6856383">
                <a:moveTo>
                  <a:pt x="4802068" y="0"/>
                </a:moveTo>
                <a:lnTo>
                  <a:pt x="0" y="0"/>
                </a:lnTo>
                <a:lnTo>
                  <a:pt x="0" y="6856382"/>
                </a:lnTo>
                <a:lnTo>
                  <a:pt x="4802068" y="6856382"/>
                </a:lnTo>
                <a:lnTo>
                  <a:pt x="4802068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7238053">
            <a:off x="487420" y="-164619"/>
            <a:ext cx="2014555" cy="3230336"/>
          </a:xfrm>
          <a:custGeom>
            <a:avLst/>
            <a:gdLst/>
            <a:ahLst/>
            <a:cxnLst/>
            <a:rect l="l" t="t" r="r" b="b"/>
            <a:pathLst>
              <a:path w="2014555" h="3230336">
                <a:moveTo>
                  <a:pt x="0" y="0"/>
                </a:moveTo>
                <a:lnTo>
                  <a:pt x="2014555" y="0"/>
                </a:lnTo>
                <a:lnTo>
                  <a:pt x="2014555" y="3230336"/>
                </a:lnTo>
                <a:lnTo>
                  <a:pt x="0" y="32303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2995939">
            <a:off x="15525438" y="195357"/>
            <a:ext cx="2014555" cy="3230336"/>
          </a:xfrm>
          <a:custGeom>
            <a:avLst/>
            <a:gdLst/>
            <a:ahLst/>
            <a:cxnLst/>
            <a:rect l="l" t="t" r="r" b="b"/>
            <a:pathLst>
              <a:path w="2014555" h="3230336">
                <a:moveTo>
                  <a:pt x="0" y="0"/>
                </a:moveTo>
                <a:lnTo>
                  <a:pt x="2014555" y="0"/>
                </a:lnTo>
                <a:lnTo>
                  <a:pt x="2014555" y="3230336"/>
                </a:lnTo>
                <a:lnTo>
                  <a:pt x="0" y="32303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3421387" y="8159765"/>
            <a:ext cx="11445225" cy="2611581"/>
          </a:xfrm>
          <a:custGeom>
            <a:avLst/>
            <a:gdLst/>
            <a:ahLst/>
            <a:cxnLst/>
            <a:rect l="l" t="t" r="r" b="b"/>
            <a:pathLst>
              <a:path w="11445225" h="2611581">
                <a:moveTo>
                  <a:pt x="0" y="0"/>
                </a:moveTo>
                <a:lnTo>
                  <a:pt x="11445226" y="0"/>
                </a:lnTo>
                <a:lnTo>
                  <a:pt x="11445226" y="2611581"/>
                </a:lnTo>
                <a:lnTo>
                  <a:pt x="0" y="26115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5757269" y="838200"/>
            <a:ext cx="6773463" cy="1359064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781"/>
              </a:lnSpc>
            </a:pPr>
            <a:r>
              <a:rPr lang="en-US" sz="7701" dirty="0">
                <a:solidFill>
                  <a:srgbClr val="74564A"/>
                </a:solidFill>
                <a:latin typeface="Chromium One"/>
                <a:ea typeface="Chromium One"/>
                <a:cs typeface="Chromium One"/>
                <a:sym typeface="Chromium One"/>
              </a:rPr>
              <a:t>Key Findings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193077" y="2786363"/>
            <a:ext cx="12954430" cy="4878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29"/>
              </a:lnSpc>
            </a:pPr>
            <a:r>
              <a:rPr lang="en-US" sz="2878">
                <a:solidFill>
                  <a:srgbClr val="74564A"/>
                </a:solidFill>
                <a:latin typeface="Fredoka"/>
                <a:ea typeface="Fredoka"/>
                <a:cs typeface="Fredoka"/>
                <a:sym typeface="Fredoka"/>
              </a:rPr>
              <a:t>The analysis of the Netflix dataset revealed several important findings :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333524" y="3672140"/>
            <a:ext cx="11521136" cy="37485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08702" lvl="1" indent="-254351" algn="l">
              <a:lnSpc>
                <a:spcPts val="3298"/>
              </a:lnSpc>
              <a:buFont typeface="Arial"/>
              <a:buChar char="•"/>
            </a:pPr>
            <a:r>
              <a:rPr lang="en-US" sz="2356" b="1">
                <a:solidFill>
                  <a:srgbClr val="74564A"/>
                </a:solidFill>
                <a:latin typeface="Arima Madurai Bold"/>
                <a:ea typeface="Arima Madurai Bold"/>
                <a:cs typeface="Arima Madurai Bold"/>
                <a:sym typeface="Arima Madurai Bold"/>
              </a:rPr>
              <a:t>Netflix contains both Movies and TV Shows.</a:t>
            </a:r>
          </a:p>
          <a:p>
            <a:pPr marL="508702" lvl="1" indent="-254351" algn="l">
              <a:lnSpc>
                <a:spcPts val="3298"/>
              </a:lnSpc>
              <a:buFont typeface="Arial"/>
              <a:buChar char="•"/>
            </a:pPr>
            <a:r>
              <a:rPr lang="en-US" sz="2356" b="1">
                <a:solidFill>
                  <a:srgbClr val="74564A"/>
                </a:solidFill>
                <a:latin typeface="Arima Madurai Bold"/>
                <a:ea typeface="Arima Madurai Bold"/>
                <a:cs typeface="Arima Madurai Bold"/>
                <a:sym typeface="Arima Madurai Bold"/>
              </a:rPr>
              <a:t>Content is distributed across a wide range of countries.</a:t>
            </a:r>
          </a:p>
          <a:p>
            <a:pPr marL="508702" lvl="1" indent="-254351" algn="l">
              <a:lnSpc>
                <a:spcPts val="3298"/>
              </a:lnSpc>
              <a:buFont typeface="Arial"/>
              <a:buChar char="•"/>
            </a:pPr>
            <a:r>
              <a:rPr lang="en-US" sz="2356" b="1">
                <a:solidFill>
                  <a:srgbClr val="74564A"/>
                </a:solidFill>
                <a:latin typeface="Arima Madurai Bold"/>
                <a:ea typeface="Arima Madurai Bold"/>
                <a:cs typeface="Arima Madurai Bold"/>
                <a:sym typeface="Arima Madurai Bold"/>
              </a:rPr>
              <a:t>Netflix content covers different ratings and categories.</a:t>
            </a:r>
          </a:p>
          <a:p>
            <a:pPr marL="508702" lvl="1" indent="-254351" algn="l">
              <a:lnSpc>
                <a:spcPts val="3298"/>
              </a:lnSpc>
              <a:buFont typeface="Arial"/>
              <a:buChar char="•"/>
            </a:pPr>
            <a:r>
              <a:rPr lang="en-US" sz="2356" b="1">
                <a:solidFill>
                  <a:srgbClr val="74564A"/>
                </a:solidFill>
                <a:latin typeface="Arima Madurai Bold"/>
                <a:ea typeface="Arima Madurai Bold"/>
                <a:cs typeface="Arima Madurai Bold"/>
                <a:sym typeface="Arima Madurai Bold"/>
              </a:rPr>
              <a:t>The dataset contains content from different release years.</a:t>
            </a:r>
          </a:p>
          <a:p>
            <a:pPr marL="508702" lvl="1" indent="-254351" algn="l">
              <a:lnSpc>
                <a:spcPts val="3298"/>
              </a:lnSpc>
              <a:buFont typeface="Arial"/>
              <a:buChar char="•"/>
            </a:pPr>
            <a:r>
              <a:rPr lang="en-US" sz="2356" b="1">
                <a:solidFill>
                  <a:srgbClr val="74564A"/>
                </a:solidFill>
                <a:latin typeface="Arima Madurai Bold"/>
                <a:ea typeface="Arima Madurai Bold"/>
                <a:cs typeface="Arima Madurai Bold"/>
                <a:sym typeface="Arima Madurai Bold"/>
              </a:rPr>
              <a:t>Movies and TV Shows have different distribution patterns.</a:t>
            </a:r>
          </a:p>
          <a:p>
            <a:pPr marL="508702" lvl="1" indent="-254351" algn="l">
              <a:lnSpc>
                <a:spcPts val="3298"/>
              </a:lnSpc>
              <a:buFont typeface="Arial"/>
              <a:buChar char="•"/>
            </a:pPr>
            <a:r>
              <a:rPr lang="en-US" sz="2356" b="1">
                <a:solidFill>
                  <a:srgbClr val="74564A"/>
                </a:solidFill>
                <a:latin typeface="Arima Madurai Bold"/>
                <a:ea typeface="Arima Madurai Bold"/>
                <a:cs typeface="Arima Madurai Bold"/>
                <a:sym typeface="Arima Madurai Bold"/>
              </a:rPr>
              <a:t>Content distribution varies between countries.</a:t>
            </a:r>
          </a:p>
          <a:p>
            <a:pPr marL="508702" lvl="1" indent="-254351" algn="l">
              <a:lnSpc>
                <a:spcPts val="3298"/>
              </a:lnSpc>
              <a:buFont typeface="Arial"/>
              <a:buChar char="•"/>
            </a:pPr>
            <a:r>
              <a:rPr lang="en-US" sz="2356" b="1">
                <a:solidFill>
                  <a:srgbClr val="74564A"/>
                </a:solidFill>
                <a:latin typeface="Arima Madurai Bold"/>
                <a:ea typeface="Arima Madurai Bold"/>
                <a:cs typeface="Arima Madurai Bold"/>
                <a:sym typeface="Arima Madurai Bold"/>
              </a:rPr>
              <a:t>Release-year analysis helps identify content trends over time.</a:t>
            </a:r>
          </a:p>
          <a:p>
            <a:pPr marL="508702" lvl="1" indent="-254351" algn="l">
              <a:lnSpc>
                <a:spcPts val="3298"/>
              </a:lnSpc>
              <a:buFont typeface="Arial"/>
              <a:buChar char="•"/>
            </a:pPr>
            <a:r>
              <a:rPr lang="en-US" sz="2356" b="1">
                <a:solidFill>
                  <a:srgbClr val="74564A"/>
                </a:solidFill>
                <a:latin typeface="Arima Madurai Bold"/>
                <a:ea typeface="Arima Madurai Bold"/>
                <a:cs typeface="Arima Madurai Bold"/>
                <a:sym typeface="Arima Madurai Bold"/>
              </a:rPr>
              <a:t>Interactive dashboards make these patterns easier to explore and understand.</a:t>
            </a:r>
          </a:p>
          <a:p>
            <a:pPr algn="l">
              <a:lnSpc>
                <a:spcPts val="3298"/>
              </a:lnSpc>
            </a:pPr>
            <a:endParaRPr lang="en-US" sz="2356" b="1">
              <a:solidFill>
                <a:srgbClr val="74564A"/>
              </a:solidFill>
              <a:latin typeface="Arima Madurai Bold"/>
              <a:ea typeface="Arima Madurai Bold"/>
              <a:cs typeface="Arima Madurai Bold"/>
              <a:sym typeface="Arima Madurai Bold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1409" y="5310561"/>
            <a:ext cx="3427523" cy="4976439"/>
          </a:xfrm>
          <a:custGeom>
            <a:avLst/>
            <a:gdLst/>
            <a:ahLst/>
            <a:cxnLst/>
            <a:rect l="l" t="t" r="r" b="b"/>
            <a:pathLst>
              <a:path w="3427523" h="4976439">
                <a:moveTo>
                  <a:pt x="0" y="0"/>
                </a:moveTo>
                <a:lnTo>
                  <a:pt x="3427523" y="0"/>
                </a:lnTo>
                <a:lnTo>
                  <a:pt x="3427523" y="4976439"/>
                </a:lnTo>
                <a:lnTo>
                  <a:pt x="0" y="497643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9640248" y="3187552"/>
            <a:ext cx="7619052" cy="40992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69"/>
              </a:lnSpc>
            </a:pPr>
            <a:r>
              <a:rPr lang="en-US" sz="2906" b="1">
                <a:solidFill>
                  <a:srgbClr val="9F7969"/>
                </a:solidFill>
                <a:latin typeface="Arima Madurai Bold"/>
                <a:ea typeface="Arima Madurai Bold"/>
                <a:cs typeface="Arima Madurai Bold"/>
                <a:sym typeface="Arima Madurai Bold"/>
              </a:rPr>
              <a:t>3. Ratings Different content ratings indicate that Netflix provides content for different audience segments.</a:t>
            </a:r>
          </a:p>
          <a:p>
            <a:pPr algn="l">
              <a:lnSpc>
                <a:spcPts val="4069"/>
              </a:lnSpc>
            </a:pPr>
            <a:endParaRPr lang="en-US" sz="2906" b="1">
              <a:solidFill>
                <a:srgbClr val="9F7969"/>
              </a:solidFill>
              <a:latin typeface="Arima Madurai Bold"/>
              <a:ea typeface="Arima Madurai Bold"/>
              <a:cs typeface="Arima Madurai Bold"/>
              <a:sym typeface="Arima Madurai Bold"/>
            </a:endParaRPr>
          </a:p>
          <a:p>
            <a:pPr algn="l">
              <a:lnSpc>
                <a:spcPts val="4069"/>
              </a:lnSpc>
            </a:pPr>
            <a:r>
              <a:rPr lang="en-US" sz="2906" b="1">
                <a:solidFill>
                  <a:srgbClr val="9F7969"/>
                </a:solidFill>
                <a:latin typeface="Arima Madurai Bold"/>
                <a:ea typeface="Arima Madurai Bold"/>
                <a:cs typeface="Arima Madurai Bold"/>
                <a:sym typeface="Arima Madurai Bold"/>
              </a:rPr>
              <a:t>4. Release Year Analyzing release years helps identify how the content library has developed over time.</a:t>
            </a:r>
          </a:p>
          <a:p>
            <a:pPr algn="r">
              <a:lnSpc>
                <a:spcPts val="4069"/>
              </a:lnSpc>
            </a:pPr>
            <a:endParaRPr lang="en-US" sz="2906" b="1">
              <a:solidFill>
                <a:srgbClr val="9F7969"/>
              </a:solidFill>
              <a:latin typeface="Arima Madurai Bold"/>
              <a:ea typeface="Arima Madurai Bold"/>
              <a:cs typeface="Arima Madurai Bold"/>
              <a:sym typeface="Arima Madurai Bold"/>
            </a:endParaRPr>
          </a:p>
        </p:txBody>
      </p:sp>
      <p:sp>
        <p:nvSpPr>
          <p:cNvPr id="4" name="Freeform 4"/>
          <p:cNvSpPr/>
          <p:nvPr/>
        </p:nvSpPr>
        <p:spPr>
          <a:xfrm flipH="1" flipV="1">
            <a:off x="14860477" y="0"/>
            <a:ext cx="3427523" cy="4976439"/>
          </a:xfrm>
          <a:custGeom>
            <a:avLst/>
            <a:gdLst/>
            <a:ahLst/>
            <a:cxnLst/>
            <a:rect l="l" t="t" r="r" b="b"/>
            <a:pathLst>
              <a:path w="3427523" h="4976439">
                <a:moveTo>
                  <a:pt x="3427523" y="4976439"/>
                </a:moveTo>
                <a:lnTo>
                  <a:pt x="0" y="4976439"/>
                </a:lnTo>
                <a:lnTo>
                  <a:pt x="0" y="0"/>
                </a:lnTo>
                <a:lnTo>
                  <a:pt x="3427523" y="0"/>
                </a:lnTo>
                <a:lnTo>
                  <a:pt x="3427523" y="4976439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V="1">
            <a:off x="21409" y="0"/>
            <a:ext cx="6399378" cy="5143500"/>
          </a:xfrm>
          <a:custGeom>
            <a:avLst/>
            <a:gdLst/>
            <a:ahLst/>
            <a:cxnLst/>
            <a:rect l="l" t="t" r="r" b="b"/>
            <a:pathLst>
              <a:path w="6399378" h="5143500">
                <a:moveTo>
                  <a:pt x="0" y="5143500"/>
                </a:moveTo>
                <a:lnTo>
                  <a:pt x="6399378" y="5143500"/>
                </a:lnTo>
                <a:lnTo>
                  <a:pt x="6399378" y="0"/>
                </a:lnTo>
                <a:lnTo>
                  <a:pt x="0" y="0"/>
                </a:lnTo>
                <a:lnTo>
                  <a:pt x="0" y="514350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5674338" y="1077953"/>
            <a:ext cx="6939325" cy="1264786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087"/>
              </a:lnSpc>
            </a:pPr>
            <a:r>
              <a:rPr lang="en-US" sz="7205" dirty="0">
                <a:solidFill>
                  <a:srgbClr val="74564A"/>
                </a:solidFill>
                <a:latin typeface="Chromium One"/>
                <a:ea typeface="Chromium One"/>
                <a:cs typeface="Chromium One"/>
                <a:sym typeface="Chromium One"/>
              </a:rPr>
              <a:t>Data Insights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735171" y="3187552"/>
            <a:ext cx="7142140" cy="40937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64"/>
              </a:lnSpc>
            </a:pPr>
            <a:r>
              <a:rPr lang="en-US" sz="2902" b="1">
                <a:solidFill>
                  <a:srgbClr val="9F7969"/>
                </a:solidFill>
                <a:latin typeface="Arima Madurai Bold"/>
                <a:ea typeface="Arima Madurai Bold"/>
                <a:cs typeface="Arima Madurai Bold"/>
                <a:sym typeface="Arima Madurai Bold"/>
              </a:rPr>
              <a:t>1. Content Type The dataset contains both Movies and TV Shows, allowing us to compare the two content types.</a:t>
            </a:r>
          </a:p>
          <a:p>
            <a:pPr algn="l">
              <a:lnSpc>
                <a:spcPts val="4064"/>
              </a:lnSpc>
            </a:pPr>
            <a:endParaRPr lang="en-US" sz="2902" b="1">
              <a:solidFill>
                <a:srgbClr val="9F7969"/>
              </a:solidFill>
              <a:latin typeface="Arima Madurai Bold"/>
              <a:ea typeface="Arima Madurai Bold"/>
              <a:cs typeface="Arima Madurai Bold"/>
              <a:sym typeface="Arima Madurai Bold"/>
            </a:endParaRPr>
          </a:p>
          <a:p>
            <a:pPr algn="l">
              <a:lnSpc>
                <a:spcPts val="4064"/>
              </a:lnSpc>
            </a:pPr>
            <a:r>
              <a:rPr lang="en-US" sz="2902" b="1">
                <a:solidFill>
                  <a:srgbClr val="9F7969"/>
                </a:solidFill>
                <a:latin typeface="Arima Madurai Bold"/>
                <a:ea typeface="Arima Madurai Bold"/>
                <a:cs typeface="Arima Madurai Bold"/>
                <a:sym typeface="Arima Madurai Bold"/>
              </a:rPr>
              <a:t>2. Country Netflix content is distributed across multiple countries, showing the international nature of the platform.</a:t>
            </a:r>
          </a:p>
          <a:p>
            <a:pPr algn="l">
              <a:lnSpc>
                <a:spcPts val="4064"/>
              </a:lnSpc>
            </a:pPr>
            <a:endParaRPr lang="en-US" sz="2902" b="1">
              <a:solidFill>
                <a:srgbClr val="9F7969"/>
              </a:solidFill>
              <a:latin typeface="Arima Madurai Bold"/>
              <a:ea typeface="Arima Madurai Bold"/>
              <a:cs typeface="Arima Madurai Bold"/>
              <a:sym typeface="Arima Madurai Bold"/>
            </a:endParaRPr>
          </a:p>
        </p:txBody>
      </p:sp>
      <p:sp>
        <p:nvSpPr>
          <p:cNvPr id="8" name="Freeform 8"/>
          <p:cNvSpPr/>
          <p:nvPr/>
        </p:nvSpPr>
        <p:spPr>
          <a:xfrm flipH="1">
            <a:off x="11888622" y="5143500"/>
            <a:ext cx="6399378" cy="5143500"/>
          </a:xfrm>
          <a:custGeom>
            <a:avLst/>
            <a:gdLst/>
            <a:ahLst/>
            <a:cxnLst/>
            <a:rect l="l" t="t" r="r" b="b"/>
            <a:pathLst>
              <a:path w="6399378" h="5143500">
                <a:moveTo>
                  <a:pt x="6399378" y="0"/>
                </a:moveTo>
                <a:lnTo>
                  <a:pt x="0" y="0"/>
                </a:lnTo>
                <a:lnTo>
                  <a:pt x="0" y="5143500"/>
                </a:lnTo>
                <a:lnTo>
                  <a:pt x="6399378" y="5143500"/>
                </a:lnTo>
                <a:lnTo>
                  <a:pt x="6399378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2714616" y="7524360"/>
            <a:ext cx="12858768" cy="9971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35"/>
              </a:lnSpc>
              <a:spcBef>
                <a:spcPct val="0"/>
              </a:spcBef>
            </a:pPr>
            <a:r>
              <a:rPr lang="en-US" sz="2882" b="1">
                <a:solidFill>
                  <a:srgbClr val="9F7969"/>
                </a:solidFill>
                <a:latin typeface="Arima Madurai Bold"/>
                <a:ea typeface="Arima Madurai Bold"/>
                <a:cs typeface="Arima Madurai Bold"/>
                <a:sym typeface="Arima Madurai Bold"/>
              </a:rPr>
              <a:t>5. Content Trends Visualizations help reveal patterns and differences in content distribution across years, countries, and content types.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CDA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-4190047" y="3835388"/>
            <a:ext cx="10482678" cy="2420546"/>
          </a:xfrm>
          <a:custGeom>
            <a:avLst/>
            <a:gdLst/>
            <a:ahLst/>
            <a:cxnLst/>
            <a:rect l="l" t="t" r="r" b="b"/>
            <a:pathLst>
              <a:path w="10482678" h="2420546">
                <a:moveTo>
                  <a:pt x="0" y="0"/>
                </a:moveTo>
                <a:lnTo>
                  <a:pt x="10482678" y="0"/>
                </a:lnTo>
                <a:lnTo>
                  <a:pt x="10482678" y="2420546"/>
                </a:lnTo>
                <a:lnTo>
                  <a:pt x="0" y="242054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650014" y="3545316"/>
            <a:ext cx="7600163" cy="210055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295"/>
              </a:lnSpc>
            </a:pPr>
            <a:r>
              <a:rPr lang="en-US" sz="5925" dirty="0">
                <a:solidFill>
                  <a:srgbClr val="74564A"/>
                </a:solidFill>
                <a:latin typeface="Chromium One"/>
                <a:ea typeface="Chromium One"/>
                <a:cs typeface="Chromium One"/>
                <a:sym typeface="Chromium One"/>
              </a:rPr>
              <a:t>Business Recommendations</a:t>
            </a:r>
          </a:p>
        </p:txBody>
      </p:sp>
      <p:sp>
        <p:nvSpPr>
          <p:cNvPr id="4" name="Freeform 4"/>
          <p:cNvSpPr/>
          <p:nvPr/>
        </p:nvSpPr>
        <p:spPr>
          <a:xfrm>
            <a:off x="7312760" y="5645874"/>
            <a:ext cx="4475069" cy="3612426"/>
          </a:xfrm>
          <a:custGeom>
            <a:avLst/>
            <a:gdLst/>
            <a:ahLst/>
            <a:cxnLst/>
            <a:rect l="l" t="t" r="r" b="b"/>
            <a:pathLst>
              <a:path w="4475069" h="3612426">
                <a:moveTo>
                  <a:pt x="0" y="0"/>
                </a:moveTo>
                <a:lnTo>
                  <a:pt x="4475070" y="0"/>
                </a:lnTo>
                <a:lnTo>
                  <a:pt x="4475070" y="3612426"/>
                </a:lnTo>
                <a:lnTo>
                  <a:pt x="0" y="361242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287" b="-287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2506606" y="3239448"/>
            <a:ext cx="4475069" cy="3612426"/>
          </a:xfrm>
          <a:custGeom>
            <a:avLst/>
            <a:gdLst/>
            <a:ahLst/>
            <a:cxnLst/>
            <a:rect l="l" t="t" r="r" b="b"/>
            <a:pathLst>
              <a:path w="4475069" h="3612426">
                <a:moveTo>
                  <a:pt x="0" y="0"/>
                </a:moveTo>
                <a:lnTo>
                  <a:pt x="4475070" y="0"/>
                </a:lnTo>
                <a:lnTo>
                  <a:pt x="4475070" y="3612426"/>
                </a:lnTo>
                <a:lnTo>
                  <a:pt x="0" y="361242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287" b="-287"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7312760" y="1028700"/>
            <a:ext cx="4475069" cy="3612426"/>
          </a:xfrm>
          <a:custGeom>
            <a:avLst/>
            <a:gdLst/>
            <a:ahLst/>
            <a:cxnLst/>
            <a:rect l="l" t="t" r="r" b="b"/>
            <a:pathLst>
              <a:path w="4475069" h="3612426">
                <a:moveTo>
                  <a:pt x="0" y="0"/>
                </a:moveTo>
                <a:lnTo>
                  <a:pt x="4475070" y="0"/>
                </a:lnTo>
                <a:lnTo>
                  <a:pt x="4475070" y="3612426"/>
                </a:lnTo>
                <a:lnTo>
                  <a:pt x="0" y="361242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287" b="-287"/>
            </a:stretch>
          </a:blipFill>
        </p:spPr>
      </p:sp>
      <p:sp>
        <p:nvSpPr>
          <p:cNvPr id="7" name="Freeform 7"/>
          <p:cNvSpPr/>
          <p:nvPr/>
        </p:nvSpPr>
        <p:spPr>
          <a:xfrm rot="-5400000" flipV="1">
            <a:off x="12017961" y="3835388"/>
            <a:ext cx="10482678" cy="2420546"/>
          </a:xfrm>
          <a:custGeom>
            <a:avLst/>
            <a:gdLst/>
            <a:ahLst/>
            <a:cxnLst/>
            <a:rect l="l" t="t" r="r" b="b"/>
            <a:pathLst>
              <a:path w="10482678" h="2420546">
                <a:moveTo>
                  <a:pt x="0" y="2420546"/>
                </a:moveTo>
                <a:lnTo>
                  <a:pt x="10482678" y="2420546"/>
                </a:lnTo>
                <a:lnTo>
                  <a:pt x="10482678" y="0"/>
                </a:lnTo>
                <a:lnTo>
                  <a:pt x="0" y="0"/>
                </a:lnTo>
                <a:lnTo>
                  <a:pt x="0" y="2420546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-1851568">
            <a:off x="3968601" y="2280844"/>
            <a:ext cx="2669631" cy="863990"/>
          </a:xfrm>
          <a:custGeom>
            <a:avLst/>
            <a:gdLst/>
            <a:ahLst/>
            <a:cxnLst/>
            <a:rect l="l" t="t" r="r" b="b"/>
            <a:pathLst>
              <a:path w="2669631" h="863990">
                <a:moveTo>
                  <a:pt x="0" y="0"/>
                </a:moveTo>
                <a:lnTo>
                  <a:pt x="2669630" y="0"/>
                </a:lnTo>
                <a:lnTo>
                  <a:pt x="2669630" y="863990"/>
                </a:lnTo>
                <a:lnTo>
                  <a:pt x="0" y="86399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-8373986" flipH="1">
            <a:off x="4016423" y="6404548"/>
            <a:ext cx="2573986" cy="1389952"/>
          </a:xfrm>
          <a:custGeom>
            <a:avLst/>
            <a:gdLst/>
            <a:ahLst/>
            <a:cxnLst/>
            <a:rect l="l" t="t" r="r" b="b"/>
            <a:pathLst>
              <a:path w="2573986" h="1389952">
                <a:moveTo>
                  <a:pt x="2573986" y="0"/>
                </a:moveTo>
                <a:lnTo>
                  <a:pt x="0" y="0"/>
                </a:lnTo>
                <a:lnTo>
                  <a:pt x="0" y="1389952"/>
                </a:lnTo>
                <a:lnTo>
                  <a:pt x="2573986" y="1389952"/>
                </a:lnTo>
                <a:lnTo>
                  <a:pt x="257398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491660" y="1028700"/>
            <a:ext cx="1806153" cy="1967097"/>
          </a:xfrm>
          <a:custGeom>
            <a:avLst/>
            <a:gdLst/>
            <a:ahLst/>
            <a:cxnLst/>
            <a:rect l="l" t="t" r="r" b="b"/>
            <a:pathLst>
              <a:path w="1806153" h="1967097">
                <a:moveTo>
                  <a:pt x="0" y="0"/>
                </a:moveTo>
                <a:lnTo>
                  <a:pt x="1806153" y="0"/>
                </a:lnTo>
                <a:lnTo>
                  <a:pt x="1806153" y="1967097"/>
                </a:lnTo>
                <a:lnTo>
                  <a:pt x="0" y="196709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615485" y="7287722"/>
            <a:ext cx="779251" cy="848690"/>
          </a:xfrm>
          <a:custGeom>
            <a:avLst/>
            <a:gdLst/>
            <a:ahLst/>
            <a:cxnLst/>
            <a:rect l="l" t="t" r="r" b="b"/>
            <a:pathLst>
              <a:path w="779251" h="848690">
                <a:moveTo>
                  <a:pt x="0" y="0"/>
                </a:moveTo>
                <a:lnTo>
                  <a:pt x="779252" y="0"/>
                </a:lnTo>
                <a:lnTo>
                  <a:pt x="779252" y="848690"/>
                </a:lnTo>
                <a:lnTo>
                  <a:pt x="0" y="84869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4744141" y="1028700"/>
            <a:ext cx="1806153" cy="1967097"/>
          </a:xfrm>
          <a:custGeom>
            <a:avLst/>
            <a:gdLst/>
            <a:ahLst/>
            <a:cxnLst/>
            <a:rect l="l" t="t" r="r" b="b"/>
            <a:pathLst>
              <a:path w="1806153" h="1967097">
                <a:moveTo>
                  <a:pt x="0" y="0"/>
                </a:moveTo>
                <a:lnTo>
                  <a:pt x="1806153" y="0"/>
                </a:lnTo>
                <a:lnTo>
                  <a:pt x="1806153" y="1967097"/>
                </a:lnTo>
                <a:lnTo>
                  <a:pt x="0" y="196709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4930979" y="7099524"/>
            <a:ext cx="1118048" cy="1217676"/>
          </a:xfrm>
          <a:custGeom>
            <a:avLst/>
            <a:gdLst/>
            <a:ahLst/>
            <a:cxnLst/>
            <a:rect l="l" t="t" r="r" b="b"/>
            <a:pathLst>
              <a:path w="1118048" h="1217676">
                <a:moveTo>
                  <a:pt x="0" y="0"/>
                </a:moveTo>
                <a:lnTo>
                  <a:pt x="1118048" y="0"/>
                </a:lnTo>
                <a:lnTo>
                  <a:pt x="1118048" y="1217677"/>
                </a:lnTo>
                <a:lnTo>
                  <a:pt x="0" y="121767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7390852" y="1974149"/>
            <a:ext cx="4204697" cy="24553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63"/>
              </a:lnSpc>
            </a:pPr>
            <a:r>
              <a:rPr lang="en-US" sz="2331">
                <a:solidFill>
                  <a:srgbClr val="85553D"/>
                </a:solidFill>
                <a:latin typeface="Pacifico"/>
                <a:ea typeface="Pacifico"/>
                <a:cs typeface="Pacifico"/>
                <a:sym typeface="Pacifico"/>
              </a:rPr>
              <a:t>1. Use Country-Based Analysis</a:t>
            </a:r>
          </a:p>
          <a:p>
            <a:pPr algn="ctr">
              <a:lnSpc>
                <a:spcPts val="3263"/>
              </a:lnSpc>
            </a:pPr>
            <a:r>
              <a:rPr lang="en-US" sz="2331" b="1">
                <a:solidFill>
                  <a:srgbClr val="85553D"/>
                </a:solidFill>
                <a:latin typeface="Arima Madurai Bold"/>
                <a:ea typeface="Arima Madurai Bold"/>
                <a:cs typeface="Arima Madurai Bold"/>
                <a:sym typeface="Arima Madurai Bold"/>
              </a:rPr>
              <a:t>Netflix can use country-level analysis to better understand different markets and identify content opportunities.</a:t>
            </a:r>
          </a:p>
          <a:p>
            <a:pPr algn="ctr">
              <a:lnSpc>
                <a:spcPts val="3263"/>
              </a:lnSpc>
            </a:pPr>
            <a:endParaRPr lang="en-US" sz="2331" b="1">
              <a:solidFill>
                <a:srgbClr val="85553D"/>
              </a:solidFill>
              <a:latin typeface="Arima Madurai Bold"/>
              <a:ea typeface="Arima Madurai Bold"/>
              <a:cs typeface="Arima Madurai Bold"/>
              <a:sym typeface="Arima Madurai Bold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7390852" y="6421275"/>
            <a:ext cx="4286306" cy="29865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89"/>
              </a:lnSpc>
            </a:pPr>
            <a:r>
              <a:rPr lang="en-US" sz="2420">
                <a:solidFill>
                  <a:srgbClr val="85553D"/>
                </a:solidFill>
                <a:latin typeface="Pacifico"/>
                <a:ea typeface="Pacifico"/>
                <a:cs typeface="Pacifico"/>
                <a:sym typeface="Pacifico"/>
              </a:rPr>
              <a:t>3. Use Content Trends for Future Planning</a:t>
            </a:r>
          </a:p>
          <a:p>
            <a:pPr algn="ctr">
              <a:lnSpc>
                <a:spcPts val="3389"/>
              </a:lnSpc>
            </a:pPr>
            <a:r>
              <a:rPr lang="en-US" sz="2420" b="1">
                <a:solidFill>
                  <a:srgbClr val="85553D"/>
                </a:solidFill>
                <a:latin typeface="Arima Madurai Bold"/>
                <a:ea typeface="Arima Madurai Bold"/>
                <a:cs typeface="Arima Madurai Bold"/>
                <a:sym typeface="Arima Madurai Bold"/>
              </a:rPr>
              <a:t>Historical content trends can support future content acquisition and production decisions.</a:t>
            </a:r>
          </a:p>
          <a:p>
            <a:pPr algn="ctr">
              <a:lnSpc>
                <a:spcPts val="3389"/>
              </a:lnSpc>
            </a:pPr>
            <a:endParaRPr lang="en-US" sz="2420" b="1">
              <a:solidFill>
                <a:srgbClr val="85553D"/>
              </a:solidFill>
              <a:latin typeface="Arima Madurai Bold"/>
              <a:ea typeface="Arima Madurai Bold"/>
              <a:cs typeface="Arima Madurai Bold"/>
              <a:sym typeface="Arima Madurai Bold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2690748" y="3985073"/>
            <a:ext cx="4106786" cy="28668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62"/>
              </a:lnSpc>
            </a:pPr>
            <a:r>
              <a:rPr lang="en-US" sz="2330">
                <a:solidFill>
                  <a:srgbClr val="85553D"/>
                </a:solidFill>
                <a:latin typeface="Pacifico"/>
                <a:ea typeface="Pacifico"/>
                <a:cs typeface="Pacifico"/>
                <a:sym typeface="Pacifico"/>
              </a:rPr>
              <a:t>2. Focus on Audience Segments</a:t>
            </a:r>
          </a:p>
          <a:p>
            <a:pPr algn="ctr">
              <a:lnSpc>
                <a:spcPts val="3262"/>
              </a:lnSpc>
            </a:pPr>
            <a:r>
              <a:rPr lang="en-US" sz="2330" b="1">
                <a:solidFill>
                  <a:srgbClr val="85553D"/>
                </a:solidFill>
                <a:latin typeface="Arima Madurai Bold"/>
                <a:ea typeface="Arima Madurai Bold"/>
                <a:cs typeface="Arima Madurai Bold"/>
                <a:sym typeface="Arima Madurai Bold"/>
              </a:rPr>
              <a:t>Analyzing ratings and content categories can help understand different audience segments and their content preferences.</a:t>
            </a:r>
          </a:p>
          <a:p>
            <a:pPr algn="ctr">
              <a:lnSpc>
                <a:spcPts val="3262"/>
              </a:lnSpc>
            </a:pPr>
            <a:endParaRPr lang="en-US" sz="2330" b="1">
              <a:solidFill>
                <a:srgbClr val="85553D"/>
              </a:solidFill>
              <a:latin typeface="Arima Madurai Bold"/>
              <a:ea typeface="Arima Madurai Bold"/>
              <a:cs typeface="Arima Madurai Bold"/>
              <a:sym typeface="Arima Madurai 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615485" y="5818121"/>
            <a:ext cx="5775367" cy="650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99"/>
              </a:lnSpc>
              <a:spcBef>
                <a:spcPct val="0"/>
              </a:spcBef>
            </a:pPr>
            <a:r>
              <a:rPr lang="en-US" sz="1856">
                <a:solidFill>
                  <a:srgbClr val="975A43"/>
                </a:solidFill>
                <a:latin typeface="Arima Madurai"/>
                <a:ea typeface="Arima Madurai"/>
                <a:cs typeface="Arima Madurai"/>
                <a:sym typeface="Arima Madurai"/>
              </a:rPr>
              <a:t>Based on the analysis, the following recommendations can be considered :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CDA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-4190047" y="3835388"/>
            <a:ext cx="10482678" cy="2420546"/>
          </a:xfrm>
          <a:custGeom>
            <a:avLst/>
            <a:gdLst/>
            <a:ahLst/>
            <a:cxnLst/>
            <a:rect l="l" t="t" r="r" b="b"/>
            <a:pathLst>
              <a:path w="10482678" h="2420546">
                <a:moveTo>
                  <a:pt x="0" y="0"/>
                </a:moveTo>
                <a:lnTo>
                  <a:pt x="10482678" y="0"/>
                </a:lnTo>
                <a:lnTo>
                  <a:pt x="10482678" y="2420546"/>
                </a:lnTo>
                <a:lnTo>
                  <a:pt x="0" y="242054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650014" y="3545316"/>
            <a:ext cx="7600163" cy="210055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295"/>
              </a:lnSpc>
            </a:pPr>
            <a:r>
              <a:rPr lang="en-US" sz="5925" dirty="0">
                <a:solidFill>
                  <a:srgbClr val="74564A"/>
                </a:solidFill>
                <a:latin typeface="Chromium One"/>
                <a:ea typeface="Chromium One"/>
                <a:cs typeface="Chromium One"/>
                <a:sym typeface="Chromium One"/>
              </a:rPr>
              <a:t>Business Recommendations</a:t>
            </a:r>
          </a:p>
        </p:txBody>
      </p:sp>
      <p:sp>
        <p:nvSpPr>
          <p:cNvPr id="4" name="Freeform 4"/>
          <p:cNvSpPr/>
          <p:nvPr/>
        </p:nvSpPr>
        <p:spPr>
          <a:xfrm>
            <a:off x="7312760" y="5645874"/>
            <a:ext cx="4475069" cy="3612426"/>
          </a:xfrm>
          <a:custGeom>
            <a:avLst/>
            <a:gdLst/>
            <a:ahLst/>
            <a:cxnLst/>
            <a:rect l="l" t="t" r="r" b="b"/>
            <a:pathLst>
              <a:path w="4475069" h="3612426">
                <a:moveTo>
                  <a:pt x="0" y="0"/>
                </a:moveTo>
                <a:lnTo>
                  <a:pt x="4475070" y="0"/>
                </a:lnTo>
                <a:lnTo>
                  <a:pt x="4475070" y="3612426"/>
                </a:lnTo>
                <a:lnTo>
                  <a:pt x="0" y="361242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287" b="-287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2506606" y="3239448"/>
            <a:ext cx="4475069" cy="3612426"/>
          </a:xfrm>
          <a:custGeom>
            <a:avLst/>
            <a:gdLst/>
            <a:ahLst/>
            <a:cxnLst/>
            <a:rect l="l" t="t" r="r" b="b"/>
            <a:pathLst>
              <a:path w="4475069" h="3612426">
                <a:moveTo>
                  <a:pt x="0" y="0"/>
                </a:moveTo>
                <a:lnTo>
                  <a:pt x="4475070" y="0"/>
                </a:lnTo>
                <a:lnTo>
                  <a:pt x="4475070" y="3612426"/>
                </a:lnTo>
                <a:lnTo>
                  <a:pt x="0" y="361242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287" b="-287"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7312760" y="1028700"/>
            <a:ext cx="4475069" cy="3612426"/>
          </a:xfrm>
          <a:custGeom>
            <a:avLst/>
            <a:gdLst/>
            <a:ahLst/>
            <a:cxnLst/>
            <a:rect l="l" t="t" r="r" b="b"/>
            <a:pathLst>
              <a:path w="4475069" h="3612426">
                <a:moveTo>
                  <a:pt x="0" y="0"/>
                </a:moveTo>
                <a:lnTo>
                  <a:pt x="4475070" y="0"/>
                </a:lnTo>
                <a:lnTo>
                  <a:pt x="4475070" y="3612426"/>
                </a:lnTo>
                <a:lnTo>
                  <a:pt x="0" y="361242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287" b="-287"/>
            </a:stretch>
          </a:blipFill>
        </p:spPr>
      </p:sp>
      <p:sp>
        <p:nvSpPr>
          <p:cNvPr id="7" name="Freeform 7"/>
          <p:cNvSpPr/>
          <p:nvPr/>
        </p:nvSpPr>
        <p:spPr>
          <a:xfrm rot="-5400000" flipV="1">
            <a:off x="12017961" y="3835388"/>
            <a:ext cx="10482678" cy="2420546"/>
          </a:xfrm>
          <a:custGeom>
            <a:avLst/>
            <a:gdLst/>
            <a:ahLst/>
            <a:cxnLst/>
            <a:rect l="l" t="t" r="r" b="b"/>
            <a:pathLst>
              <a:path w="10482678" h="2420546">
                <a:moveTo>
                  <a:pt x="0" y="2420546"/>
                </a:moveTo>
                <a:lnTo>
                  <a:pt x="10482678" y="2420546"/>
                </a:lnTo>
                <a:lnTo>
                  <a:pt x="10482678" y="0"/>
                </a:lnTo>
                <a:lnTo>
                  <a:pt x="0" y="0"/>
                </a:lnTo>
                <a:lnTo>
                  <a:pt x="0" y="2420546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-1851568">
            <a:off x="3968601" y="2280844"/>
            <a:ext cx="2669631" cy="863990"/>
          </a:xfrm>
          <a:custGeom>
            <a:avLst/>
            <a:gdLst/>
            <a:ahLst/>
            <a:cxnLst/>
            <a:rect l="l" t="t" r="r" b="b"/>
            <a:pathLst>
              <a:path w="2669631" h="863990">
                <a:moveTo>
                  <a:pt x="0" y="0"/>
                </a:moveTo>
                <a:lnTo>
                  <a:pt x="2669630" y="0"/>
                </a:lnTo>
                <a:lnTo>
                  <a:pt x="2669630" y="863990"/>
                </a:lnTo>
                <a:lnTo>
                  <a:pt x="0" y="86399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-8373986" flipH="1">
            <a:off x="4016423" y="6404548"/>
            <a:ext cx="2573986" cy="1389952"/>
          </a:xfrm>
          <a:custGeom>
            <a:avLst/>
            <a:gdLst/>
            <a:ahLst/>
            <a:cxnLst/>
            <a:rect l="l" t="t" r="r" b="b"/>
            <a:pathLst>
              <a:path w="2573986" h="1389952">
                <a:moveTo>
                  <a:pt x="2573986" y="0"/>
                </a:moveTo>
                <a:lnTo>
                  <a:pt x="0" y="0"/>
                </a:lnTo>
                <a:lnTo>
                  <a:pt x="0" y="1389952"/>
                </a:lnTo>
                <a:lnTo>
                  <a:pt x="2573986" y="1389952"/>
                </a:lnTo>
                <a:lnTo>
                  <a:pt x="257398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491660" y="1028700"/>
            <a:ext cx="1806153" cy="1967097"/>
          </a:xfrm>
          <a:custGeom>
            <a:avLst/>
            <a:gdLst/>
            <a:ahLst/>
            <a:cxnLst/>
            <a:rect l="l" t="t" r="r" b="b"/>
            <a:pathLst>
              <a:path w="1806153" h="1967097">
                <a:moveTo>
                  <a:pt x="0" y="0"/>
                </a:moveTo>
                <a:lnTo>
                  <a:pt x="1806153" y="0"/>
                </a:lnTo>
                <a:lnTo>
                  <a:pt x="1806153" y="1967097"/>
                </a:lnTo>
                <a:lnTo>
                  <a:pt x="0" y="196709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615485" y="7287722"/>
            <a:ext cx="779251" cy="848690"/>
          </a:xfrm>
          <a:custGeom>
            <a:avLst/>
            <a:gdLst/>
            <a:ahLst/>
            <a:cxnLst/>
            <a:rect l="l" t="t" r="r" b="b"/>
            <a:pathLst>
              <a:path w="779251" h="848690">
                <a:moveTo>
                  <a:pt x="0" y="0"/>
                </a:moveTo>
                <a:lnTo>
                  <a:pt x="779252" y="0"/>
                </a:lnTo>
                <a:lnTo>
                  <a:pt x="779252" y="848690"/>
                </a:lnTo>
                <a:lnTo>
                  <a:pt x="0" y="84869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4744141" y="1028700"/>
            <a:ext cx="1806153" cy="1967097"/>
          </a:xfrm>
          <a:custGeom>
            <a:avLst/>
            <a:gdLst/>
            <a:ahLst/>
            <a:cxnLst/>
            <a:rect l="l" t="t" r="r" b="b"/>
            <a:pathLst>
              <a:path w="1806153" h="1967097">
                <a:moveTo>
                  <a:pt x="0" y="0"/>
                </a:moveTo>
                <a:lnTo>
                  <a:pt x="1806153" y="0"/>
                </a:lnTo>
                <a:lnTo>
                  <a:pt x="1806153" y="1967097"/>
                </a:lnTo>
                <a:lnTo>
                  <a:pt x="0" y="196709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4930979" y="7099524"/>
            <a:ext cx="1118048" cy="1217676"/>
          </a:xfrm>
          <a:custGeom>
            <a:avLst/>
            <a:gdLst/>
            <a:ahLst/>
            <a:cxnLst/>
            <a:rect l="l" t="t" r="r" b="b"/>
            <a:pathLst>
              <a:path w="1118048" h="1217676">
                <a:moveTo>
                  <a:pt x="0" y="0"/>
                </a:moveTo>
                <a:lnTo>
                  <a:pt x="1118048" y="0"/>
                </a:lnTo>
                <a:lnTo>
                  <a:pt x="1118048" y="1217677"/>
                </a:lnTo>
                <a:lnTo>
                  <a:pt x="0" y="121767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7430426" y="1758926"/>
            <a:ext cx="4316597" cy="2882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82"/>
              </a:lnSpc>
            </a:pPr>
            <a:r>
              <a:rPr lang="en-US" sz="2344">
                <a:solidFill>
                  <a:srgbClr val="85553D"/>
                </a:solidFill>
                <a:latin typeface="Pacifico"/>
                <a:ea typeface="Pacifico"/>
                <a:cs typeface="Pacifico"/>
                <a:sym typeface="Pacifico"/>
              </a:rPr>
              <a:t>4. Maintain a Balance Between Movies and TV Shows</a:t>
            </a:r>
          </a:p>
          <a:p>
            <a:pPr algn="ctr">
              <a:lnSpc>
                <a:spcPts val="3282"/>
              </a:lnSpc>
            </a:pPr>
            <a:r>
              <a:rPr lang="en-US" sz="2344" b="1">
                <a:solidFill>
                  <a:srgbClr val="85553D"/>
                </a:solidFill>
                <a:latin typeface="Arima Madurai Bold"/>
                <a:ea typeface="Arima Madurai Bold"/>
                <a:cs typeface="Arima Madurai Bold"/>
                <a:sym typeface="Arima Madurai Bold"/>
              </a:rPr>
              <a:t>Monitoring the distribution of Movies and TV Shows can help support balanced content planning.</a:t>
            </a:r>
          </a:p>
          <a:p>
            <a:pPr algn="ctr">
              <a:lnSpc>
                <a:spcPts val="3282"/>
              </a:lnSpc>
            </a:pPr>
            <a:endParaRPr lang="en-US" sz="2344" b="1">
              <a:solidFill>
                <a:srgbClr val="85553D"/>
              </a:solidFill>
              <a:latin typeface="Arima Madurai Bold"/>
              <a:ea typeface="Arima Madurai Bold"/>
              <a:cs typeface="Arima Madurai Bold"/>
              <a:sym typeface="Arima Madurai Bold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7557229" y="6421275"/>
            <a:ext cx="3986132" cy="30976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69"/>
              </a:lnSpc>
            </a:pPr>
            <a:r>
              <a:rPr lang="en-US" sz="2192">
                <a:solidFill>
                  <a:srgbClr val="85553D"/>
                </a:solidFill>
                <a:latin typeface="Pacifico"/>
                <a:ea typeface="Pacifico"/>
                <a:cs typeface="Pacifico"/>
                <a:sym typeface="Pacifico"/>
              </a:rPr>
              <a:t>6. Continue Monitoring Content Trends</a:t>
            </a:r>
          </a:p>
          <a:p>
            <a:pPr algn="ctr">
              <a:lnSpc>
                <a:spcPts val="3069"/>
              </a:lnSpc>
            </a:pPr>
            <a:r>
              <a:rPr lang="en-US" sz="2192" b="1">
                <a:solidFill>
                  <a:srgbClr val="85553D"/>
                </a:solidFill>
                <a:latin typeface="Arima Madurai Bold"/>
                <a:ea typeface="Arima Madurai Bold"/>
                <a:cs typeface="Arima Madurai Bold"/>
                <a:sym typeface="Arima Madurai Bold"/>
              </a:rPr>
              <a:t>Regular analysis of new content and changing trends can help Netflix respond to changes in audience interests.</a:t>
            </a:r>
          </a:p>
          <a:p>
            <a:pPr algn="ctr">
              <a:lnSpc>
                <a:spcPts val="3069"/>
              </a:lnSpc>
            </a:pPr>
            <a:endParaRPr lang="en-US" sz="2192" b="1">
              <a:solidFill>
                <a:srgbClr val="85553D"/>
              </a:solidFill>
              <a:latin typeface="Arima Madurai Bold"/>
              <a:ea typeface="Arima Madurai Bold"/>
              <a:cs typeface="Arima Madurai Bold"/>
              <a:sym typeface="Arima Madurai Bold"/>
            </a:endParaRPr>
          </a:p>
          <a:p>
            <a:pPr algn="ctr">
              <a:lnSpc>
                <a:spcPts val="3069"/>
              </a:lnSpc>
            </a:pPr>
            <a:endParaRPr lang="en-US" sz="2192" b="1">
              <a:solidFill>
                <a:srgbClr val="85553D"/>
              </a:solidFill>
              <a:latin typeface="Arima Madurai Bold"/>
              <a:ea typeface="Arima Madurai Bold"/>
              <a:cs typeface="Arima Madurai Bold"/>
              <a:sym typeface="Arima Madurai Bold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2611260" y="4141514"/>
            <a:ext cx="4265761" cy="2710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0"/>
              </a:lnSpc>
            </a:pPr>
            <a:r>
              <a:rPr lang="en-US" sz="2193">
                <a:solidFill>
                  <a:srgbClr val="85553D"/>
                </a:solidFill>
                <a:latin typeface="Pacifico"/>
                <a:ea typeface="Pacifico"/>
                <a:cs typeface="Pacifico"/>
                <a:sym typeface="Pacifico"/>
              </a:rPr>
              <a:t>5. Support Data-Driven Decisions</a:t>
            </a:r>
          </a:p>
          <a:p>
            <a:pPr algn="ctr">
              <a:lnSpc>
                <a:spcPts val="3070"/>
              </a:lnSpc>
            </a:pPr>
            <a:r>
              <a:rPr lang="en-US" sz="2193" b="1">
                <a:solidFill>
                  <a:srgbClr val="85553D"/>
                </a:solidFill>
                <a:latin typeface="Arima Madurai Bold"/>
                <a:ea typeface="Arima Madurai Bold"/>
                <a:cs typeface="Arima Madurai Bold"/>
                <a:sym typeface="Arima Madurai Bold"/>
              </a:rPr>
              <a:t>Data analysis and visualization can be continuously used to support content production, acquisition, and audience targeting.</a:t>
            </a:r>
          </a:p>
          <a:p>
            <a:pPr algn="ctr">
              <a:lnSpc>
                <a:spcPts val="3070"/>
              </a:lnSpc>
            </a:pPr>
            <a:endParaRPr lang="en-US" sz="2193" b="1">
              <a:solidFill>
                <a:srgbClr val="85553D"/>
              </a:solidFill>
              <a:latin typeface="Arima Madurai Bold"/>
              <a:ea typeface="Arima Madurai Bold"/>
              <a:cs typeface="Arima Madurai Bold"/>
              <a:sym typeface="Arima Madurai 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615485" y="5818121"/>
            <a:ext cx="5775367" cy="650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99"/>
              </a:lnSpc>
              <a:spcBef>
                <a:spcPct val="0"/>
              </a:spcBef>
            </a:pPr>
            <a:r>
              <a:rPr lang="en-US" sz="1856">
                <a:solidFill>
                  <a:srgbClr val="975A43"/>
                </a:solidFill>
                <a:latin typeface="Arima Madurai"/>
                <a:ea typeface="Arima Madurai"/>
                <a:cs typeface="Arima Madurai"/>
                <a:sym typeface="Arima Madurai"/>
              </a:rPr>
              <a:t>Based on the analysis, the following recommendations can be considered :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0522" y="4804913"/>
            <a:ext cx="18288000" cy="7671816"/>
          </a:xfrm>
          <a:custGeom>
            <a:avLst/>
            <a:gdLst/>
            <a:ahLst/>
            <a:cxnLst/>
            <a:rect l="l" t="t" r="r" b="b"/>
            <a:pathLst>
              <a:path w="18288000" h="7671816">
                <a:moveTo>
                  <a:pt x="0" y="0"/>
                </a:moveTo>
                <a:lnTo>
                  <a:pt x="18288000" y="0"/>
                </a:lnTo>
                <a:lnTo>
                  <a:pt x="18288000" y="7671816"/>
                </a:lnTo>
                <a:lnTo>
                  <a:pt x="0" y="767181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1086384" y="-177593"/>
            <a:ext cx="4230168" cy="4114800"/>
          </a:xfrm>
          <a:custGeom>
            <a:avLst/>
            <a:gdLst/>
            <a:ahLst/>
            <a:cxnLst/>
            <a:rect l="l" t="t" r="r" b="b"/>
            <a:pathLst>
              <a:path w="4230168" h="4114800">
                <a:moveTo>
                  <a:pt x="0" y="0"/>
                </a:moveTo>
                <a:lnTo>
                  <a:pt x="4230168" y="0"/>
                </a:lnTo>
                <a:lnTo>
                  <a:pt x="423016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5558872" y="857250"/>
            <a:ext cx="7260347" cy="1264786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087"/>
              </a:lnSpc>
            </a:pPr>
            <a:r>
              <a:rPr lang="en-US" sz="7205" dirty="0">
                <a:solidFill>
                  <a:srgbClr val="74564A"/>
                </a:solidFill>
                <a:latin typeface="Chromium One"/>
                <a:ea typeface="Chromium One"/>
                <a:cs typeface="Chromium One"/>
                <a:sym typeface="Chromium One"/>
              </a:rPr>
              <a:t>Business Value</a:t>
            </a:r>
          </a:p>
        </p:txBody>
      </p:sp>
      <p:sp>
        <p:nvSpPr>
          <p:cNvPr id="5" name="Freeform 5"/>
          <p:cNvSpPr/>
          <p:nvPr/>
        </p:nvSpPr>
        <p:spPr>
          <a:xfrm>
            <a:off x="15144216" y="-177593"/>
            <a:ext cx="4230168" cy="4114800"/>
          </a:xfrm>
          <a:custGeom>
            <a:avLst/>
            <a:gdLst/>
            <a:ahLst/>
            <a:cxnLst/>
            <a:rect l="l" t="t" r="r" b="b"/>
            <a:pathLst>
              <a:path w="4230168" h="4114800">
                <a:moveTo>
                  <a:pt x="0" y="0"/>
                </a:moveTo>
                <a:lnTo>
                  <a:pt x="4230168" y="0"/>
                </a:lnTo>
                <a:lnTo>
                  <a:pt x="423016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2643745" y="4296842"/>
            <a:ext cx="10175474" cy="33398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4479" lvl="1" indent="-257240" algn="just">
              <a:lnSpc>
                <a:spcPts val="3336"/>
              </a:lnSpc>
              <a:buFont typeface="Arial"/>
              <a:buChar char="•"/>
            </a:pPr>
            <a:r>
              <a:rPr lang="en-US" sz="2382">
                <a:solidFill>
                  <a:srgbClr val="9F7969"/>
                </a:solidFill>
                <a:latin typeface="Arima Madurai"/>
                <a:ea typeface="Arima Madurai"/>
                <a:cs typeface="Arima Madurai"/>
                <a:sym typeface="Arima Madurai"/>
              </a:rPr>
              <a:t>Better understanding of content distribution.</a:t>
            </a:r>
          </a:p>
          <a:p>
            <a:pPr marL="514479" lvl="1" indent="-257240" algn="just">
              <a:lnSpc>
                <a:spcPts val="3336"/>
              </a:lnSpc>
              <a:buFont typeface="Arial"/>
              <a:buChar char="•"/>
            </a:pPr>
            <a:r>
              <a:rPr lang="en-US" sz="2382">
                <a:solidFill>
                  <a:srgbClr val="9F7969"/>
                </a:solidFill>
                <a:latin typeface="Arima Madurai"/>
                <a:ea typeface="Arima Madurai"/>
                <a:cs typeface="Arima Madurai"/>
                <a:sym typeface="Arima Madurai"/>
              </a:rPr>
              <a:t>Identification of important content trends.</a:t>
            </a:r>
          </a:p>
          <a:p>
            <a:pPr marL="514479" lvl="1" indent="-257240" algn="just">
              <a:lnSpc>
                <a:spcPts val="3336"/>
              </a:lnSpc>
              <a:buFont typeface="Arial"/>
              <a:buChar char="•"/>
            </a:pPr>
            <a:r>
              <a:rPr lang="en-US" sz="2382">
                <a:solidFill>
                  <a:srgbClr val="9F7969"/>
                </a:solidFill>
                <a:latin typeface="Arima Madurai"/>
                <a:ea typeface="Arima Madurai"/>
                <a:cs typeface="Arima Madurai"/>
                <a:sym typeface="Arima Madurai"/>
              </a:rPr>
              <a:t>Comparison between countries.</a:t>
            </a:r>
          </a:p>
          <a:p>
            <a:pPr marL="514479" lvl="1" indent="-257240" algn="just">
              <a:lnSpc>
                <a:spcPts val="3336"/>
              </a:lnSpc>
              <a:buFont typeface="Arial"/>
              <a:buChar char="•"/>
            </a:pPr>
            <a:r>
              <a:rPr lang="en-US" sz="2382">
                <a:solidFill>
                  <a:srgbClr val="9F7969"/>
                </a:solidFill>
                <a:latin typeface="Arima Madurai"/>
                <a:ea typeface="Arima Madurai"/>
                <a:cs typeface="Arima Madurai"/>
                <a:sym typeface="Arima Madurai"/>
              </a:rPr>
              <a:t>Understanding different audience segments.</a:t>
            </a:r>
          </a:p>
          <a:p>
            <a:pPr marL="514479" lvl="1" indent="-257240" algn="just">
              <a:lnSpc>
                <a:spcPts val="3336"/>
              </a:lnSpc>
              <a:buFont typeface="Arial"/>
              <a:buChar char="•"/>
            </a:pPr>
            <a:r>
              <a:rPr lang="en-US" sz="2382">
                <a:solidFill>
                  <a:srgbClr val="9F7969"/>
                </a:solidFill>
                <a:latin typeface="Arima Madurai"/>
                <a:ea typeface="Arima Madurai"/>
                <a:cs typeface="Arima Madurai"/>
                <a:sym typeface="Arima Madurai"/>
              </a:rPr>
              <a:t>More informed content planning.</a:t>
            </a:r>
          </a:p>
          <a:p>
            <a:pPr marL="514479" lvl="1" indent="-257240" algn="just">
              <a:lnSpc>
                <a:spcPts val="3336"/>
              </a:lnSpc>
              <a:buFont typeface="Arial"/>
              <a:buChar char="•"/>
            </a:pPr>
            <a:r>
              <a:rPr lang="en-US" sz="2382">
                <a:solidFill>
                  <a:srgbClr val="9F7969"/>
                </a:solidFill>
                <a:latin typeface="Arima Madurai"/>
                <a:ea typeface="Arima Madurai"/>
                <a:cs typeface="Arima Madurai"/>
                <a:sym typeface="Arima Madurai"/>
              </a:rPr>
              <a:t>Data-driven decision-making.</a:t>
            </a:r>
          </a:p>
          <a:p>
            <a:pPr marL="514479" lvl="1" indent="-257240" algn="just">
              <a:lnSpc>
                <a:spcPts val="3336"/>
              </a:lnSpc>
              <a:buFont typeface="Arial"/>
              <a:buChar char="•"/>
            </a:pPr>
            <a:r>
              <a:rPr lang="en-US" sz="2382">
                <a:solidFill>
                  <a:srgbClr val="9F7969"/>
                </a:solidFill>
                <a:latin typeface="Arima Madurai"/>
                <a:ea typeface="Arima Madurai"/>
                <a:cs typeface="Arima Madurai"/>
                <a:sym typeface="Arima Madurai"/>
              </a:rPr>
              <a:t>Clear communication of insights through interactive dashboards.</a:t>
            </a:r>
          </a:p>
          <a:p>
            <a:pPr algn="just">
              <a:lnSpc>
                <a:spcPts val="3336"/>
              </a:lnSpc>
            </a:pPr>
            <a:endParaRPr lang="en-US" sz="2382">
              <a:solidFill>
                <a:srgbClr val="9F7969"/>
              </a:solidFill>
              <a:latin typeface="Arima Madurai"/>
              <a:ea typeface="Arima Madurai"/>
              <a:cs typeface="Arima Madurai"/>
              <a:sym typeface="Arima Madurai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3143784" y="2446843"/>
            <a:ext cx="9675435" cy="856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455">
                <a:solidFill>
                  <a:srgbClr val="9F7969"/>
                </a:solidFill>
                <a:latin typeface="Arima Madurai"/>
                <a:ea typeface="Arima Madurai"/>
                <a:cs typeface="Arima Madurai"/>
                <a:sym typeface="Arima Madurai"/>
              </a:rPr>
              <a:t>The analysis provides value by transforming raw Netflix data into understandable information.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481675" y="3608163"/>
            <a:ext cx="4642802" cy="515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30"/>
              </a:lnSpc>
            </a:pPr>
            <a:r>
              <a:rPr lang="en-US" sz="2950">
                <a:solidFill>
                  <a:srgbClr val="9F7969"/>
                </a:solidFill>
                <a:latin typeface="Fredoka"/>
                <a:ea typeface="Fredoka"/>
                <a:cs typeface="Fredoka"/>
                <a:sym typeface="Fredoka"/>
              </a:rPr>
              <a:t>The project can support :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832141" y="7808190"/>
            <a:ext cx="12623719" cy="3656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4"/>
              </a:lnSpc>
              <a:spcBef>
                <a:spcPct val="0"/>
              </a:spcBef>
            </a:pPr>
            <a:r>
              <a:rPr lang="en-US" sz="2096" b="1">
                <a:solidFill>
                  <a:srgbClr val="9F7969"/>
                </a:solidFill>
                <a:latin typeface="Arima Madurai Bold"/>
                <a:ea typeface="Arima Madurai Bold"/>
                <a:cs typeface="Arima Madurai Bold"/>
                <a:sym typeface="Arima Madurai Bold"/>
              </a:rPr>
              <a:t>The combination of analysis and visualization makes complex information easier to understand and use.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456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313507" y="349606"/>
            <a:ext cx="7315200" cy="2272589"/>
          </a:xfrm>
          <a:custGeom>
            <a:avLst/>
            <a:gdLst/>
            <a:ahLst/>
            <a:cxnLst/>
            <a:rect l="l" t="t" r="r" b="b"/>
            <a:pathLst>
              <a:path w="7315200" h="2272589">
                <a:moveTo>
                  <a:pt x="0" y="0"/>
                </a:moveTo>
                <a:lnTo>
                  <a:pt x="7315200" y="0"/>
                </a:lnTo>
                <a:lnTo>
                  <a:pt x="7315200" y="2272588"/>
                </a:lnTo>
                <a:lnTo>
                  <a:pt x="0" y="227258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665464" y="6389341"/>
            <a:ext cx="2449857" cy="1188997"/>
          </a:xfrm>
          <a:custGeom>
            <a:avLst/>
            <a:gdLst/>
            <a:ahLst/>
            <a:cxnLst/>
            <a:rect l="l" t="t" r="r" b="b"/>
            <a:pathLst>
              <a:path w="2449857" h="1188997">
                <a:moveTo>
                  <a:pt x="0" y="0"/>
                </a:moveTo>
                <a:lnTo>
                  <a:pt x="2449857" y="0"/>
                </a:lnTo>
                <a:lnTo>
                  <a:pt x="2449857" y="1188997"/>
                </a:lnTo>
                <a:lnTo>
                  <a:pt x="0" y="118899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0" y="0"/>
            <a:ext cx="2896505" cy="3637164"/>
          </a:xfrm>
          <a:custGeom>
            <a:avLst/>
            <a:gdLst/>
            <a:ahLst/>
            <a:cxnLst/>
            <a:rect l="l" t="t" r="r" b="b"/>
            <a:pathLst>
              <a:path w="2896505" h="3637164">
                <a:moveTo>
                  <a:pt x="0" y="0"/>
                </a:moveTo>
                <a:lnTo>
                  <a:pt x="2896505" y="0"/>
                </a:lnTo>
                <a:lnTo>
                  <a:pt x="2896505" y="3637164"/>
                </a:lnTo>
                <a:lnTo>
                  <a:pt x="0" y="363716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2103436" y="2921149"/>
            <a:ext cx="14081129" cy="67895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33"/>
              </a:lnSpc>
            </a:pPr>
            <a:r>
              <a:rPr lang="en-US" sz="2738" b="1">
                <a:solidFill>
                  <a:srgbClr val="FCCFA5"/>
                </a:solidFill>
                <a:latin typeface="Arima Madurai Bold"/>
                <a:ea typeface="Arima Madurai Bold"/>
                <a:cs typeface="Arima Madurai Bold"/>
                <a:sym typeface="Arima Madurai Bold"/>
              </a:rPr>
              <a:t>This project demonstrated the complete data analysis process using a Netflix dataset.</a:t>
            </a:r>
          </a:p>
          <a:p>
            <a:pPr algn="ctr">
              <a:lnSpc>
                <a:spcPts val="3833"/>
              </a:lnSpc>
            </a:pPr>
            <a:r>
              <a:rPr lang="en-US" sz="2738" b="1">
                <a:solidFill>
                  <a:srgbClr val="FCCFA5"/>
                </a:solidFill>
                <a:latin typeface="Arima Madurai Bold"/>
                <a:ea typeface="Arima Madurai Bold"/>
                <a:cs typeface="Arima Madurai Bold"/>
                <a:sym typeface="Arima Madurai Bold"/>
              </a:rPr>
              <a:t>We started with raw data and prepared it through data cleaning and organization.</a:t>
            </a:r>
          </a:p>
          <a:p>
            <a:pPr algn="ctr">
              <a:lnSpc>
                <a:spcPts val="3833"/>
              </a:lnSpc>
            </a:pPr>
            <a:r>
              <a:rPr lang="en-US" sz="2738" b="1">
                <a:solidFill>
                  <a:srgbClr val="FCCFA5"/>
                </a:solidFill>
                <a:latin typeface="Arima Madurai Bold"/>
                <a:ea typeface="Arima Madurai Bold"/>
                <a:cs typeface="Arima Madurai Bold"/>
                <a:sym typeface="Arima Madurai Bold"/>
              </a:rPr>
              <a:t> Excel was used for data preparation, SQL was used to query and analyze the data, </a:t>
            </a:r>
          </a:p>
          <a:p>
            <a:pPr algn="ctr">
              <a:lnSpc>
                <a:spcPts val="3833"/>
              </a:lnSpc>
            </a:pPr>
            <a:r>
              <a:rPr lang="en-US" sz="2738" b="1">
                <a:solidFill>
                  <a:srgbClr val="FCCFA5"/>
                </a:solidFill>
                <a:latin typeface="Arima Madurai Bold"/>
                <a:ea typeface="Arima Madurai Bold"/>
                <a:cs typeface="Arima Madurai Bold"/>
                <a:sym typeface="Arima Madurai Bold"/>
              </a:rPr>
              <a:t>and Python was used for further exploration and analysis.</a:t>
            </a:r>
          </a:p>
          <a:p>
            <a:pPr algn="ctr">
              <a:lnSpc>
                <a:spcPts val="3833"/>
              </a:lnSpc>
            </a:pPr>
            <a:endParaRPr lang="en-US" sz="2738" b="1">
              <a:solidFill>
                <a:srgbClr val="FCCFA5"/>
              </a:solidFill>
              <a:latin typeface="Arima Madurai Bold"/>
              <a:ea typeface="Arima Madurai Bold"/>
              <a:cs typeface="Arima Madurai Bold"/>
              <a:sym typeface="Arima Madurai Bold"/>
            </a:endParaRPr>
          </a:p>
          <a:p>
            <a:pPr algn="ctr">
              <a:lnSpc>
                <a:spcPts val="3833"/>
              </a:lnSpc>
            </a:pPr>
            <a:r>
              <a:rPr lang="en-US" sz="2738" b="1">
                <a:solidFill>
                  <a:srgbClr val="FCCFA5"/>
                </a:solidFill>
                <a:latin typeface="Arima Madurai Bold"/>
                <a:ea typeface="Arima Madurai Bold"/>
                <a:cs typeface="Arima Madurai Bold"/>
                <a:sym typeface="Arima Madurai Bold"/>
              </a:rPr>
              <a:t>After analyzing the data, Power BI and Tableau were used to transform the results </a:t>
            </a:r>
          </a:p>
          <a:p>
            <a:pPr algn="ctr">
              <a:lnSpc>
                <a:spcPts val="3833"/>
              </a:lnSpc>
            </a:pPr>
            <a:r>
              <a:rPr lang="en-US" sz="2738" b="1">
                <a:solidFill>
                  <a:srgbClr val="FCCFA5"/>
                </a:solidFill>
                <a:latin typeface="Arima Madurai Bold"/>
                <a:ea typeface="Arima Madurai Bold"/>
                <a:cs typeface="Arima Madurai Bold"/>
                <a:sym typeface="Arima Madurai Bold"/>
              </a:rPr>
              <a:t>into interactive visualizations and dashboards. The analysis allowed us to understand Netflix's content distribution, countries, ratings, release years, and content trends.</a:t>
            </a:r>
          </a:p>
          <a:p>
            <a:pPr algn="ctr">
              <a:lnSpc>
                <a:spcPts val="3833"/>
              </a:lnSpc>
            </a:pPr>
            <a:endParaRPr lang="en-US" sz="2738" b="1">
              <a:solidFill>
                <a:srgbClr val="FCCFA5"/>
              </a:solidFill>
              <a:latin typeface="Arima Madurai Bold"/>
              <a:ea typeface="Arima Madurai Bold"/>
              <a:cs typeface="Arima Madurai Bold"/>
              <a:sym typeface="Arima Madurai Bold"/>
            </a:endParaRPr>
          </a:p>
          <a:p>
            <a:pPr algn="ctr">
              <a:lnSpc>
                <a:spcPts val="3833"/>
              </a:lnSpc>
            </a:pPr>
            <a:r>
              <a:rPr lang="en-US" sz="2738" b="1">
                <a:solidFill>
                  <a:srgbClr val="FCCFA5"/>
                </a:solidFill>
                <a:latin typeface="Arima Madurai Bold"/>
                <a:ea typeface="Arima Madurai Bold"/>
                <a:cs typeface="Arima Madurai Bold"/>
                <a:sym typeface="Arima Madurai Bold"/>
              </a:rPr>
              <a:t>Finally, the identified insights were transformed into data-driven recommendations </a:t>
            </a:r>
          </a:p>
          <a:p>
            <a:pPr algn="ctr">
              <a:lnSpc>
                <a:spcPts val="3833"/>
              </a:lnSpc>
            </a:pPr>
            <a:r>
              <a:rPr lang="en-US" sz="2738" b="1">
                <a:solidFill>
                  <a:srgbClr val="FCCFA5"/>
                </a:solidFill>
                <a:latin typeface="Arima Madurai Bold"/>
                <a:ea typeface="Arima Madurai Bold"/>
                <a:cs typeface="Arima Madurai Bold"/>
                <a:sym typeface="Arima Madurai Bold"/>
              </a:rPr>
              <a:t>that can support better content and business decisions.</a:t>
            </a:r>
          </a:p>
          <a:p>
            <a:pPr algn="ctr">
              <a:lnSpc>
                <a:spcPts val="3833"/>
              </a:lnSpc>
            </a:pPr>
            <a:r>
              <a:rPr lang="en-US" sz="2738" b="1">
                <a:solidFill>
                  <a:srgbClr val="FCCFA5"/>
                </a:solidFill>
                <a:latin typeface="Arima Madurai Bold"/>
                <a:ea typeface="Arima Madurai Bold"/>
                <a:cs typeface="Arima Madurai Bold"/>
                <a:sym typeface="Arima Madurai Bold"/>
              </a:rPr>
              <a:t>Overall, this project demonstrates how data can be transformed from raw information into meaningful insights that support decision-making.</a:t>
            </a:r>
          </a:p>
          <a:p>
            <a:pPr algn="ctr">
              <a:lnSpc>
                <a:spcPts val="3833"/>
              </a:lnSpc>
            </a:pPr>
            <a:endParaRPr lang="en-US" sz="2738" b="1">
              <a:solidFill>
                <a:srgbClr val="FCCFA5"/>
              </a:solidFill>
              <a:latin typeface="Arima Madurai Bold"/>
              <a:ea typeface="Arima Madurai Bold"/>
              <a:cs typeface="Arima Madurai Bold"/>
              <a:sym typeface="Arima Madurai Bold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15391495" y="6649836"/>
            <a:ext cx="2896505" cy="3637164"/>
          </a:xfrm>
          <a:custGeom>
            <a:avLst/>
            <a:gdLst/>
            <a:ahLst/>
            <a:cxnLst/>
            <a:rect l="l" t="t" r="r" b="b"/>
            <a:pathLst>
              <a:path w="2896505" h="3637164">
                <a:moveTo>
                  <a:pt x="0" y="0"/>
                </a:moveTo>
                <a:lnTo>
                  <a:pt x="2896505" y="0"/>
                </a:lnTo>
                <a:lnTo>
                  <a:pt x="2896505" y="3637164"/>
                </a:lnTo>
                <a:lnTo>
                  <a:pt x="0" y="363716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-180455" y="8002341"/>
            <a:ext cx="3076960" cy="2511918"/>
          </a:xfrm>
          <a:custGeom>
            <a:avLst/>
            <a:gdLst/>
            <a:ahLst/>
            <a:cxnLst/>
            <a:rect l="l" t="t" r="r" b="b"/>
            <a:pathLst>
              <a:path w="3076960" h="2511918">
                <a:moveTo>
                  <a:pt x="0" y="0"/>
                </a:moveTo>
                <a:lnTo>
                  <a:pt x="3076960" y="0"/>
                </a:lnTo>
                <a:lnTo>
                  <a:pt x="3076960" y="2511918"/>
                </a:lnTo>
                <a:lnTo>
                  <a:pt x="0" y="251191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5807573" y="1314450"/>
            <a:ext cx="6672855" cy="1264786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087"/>
              </a:lnSpc>
            </a:pPr>
            <a:r>
              <a:rPr lang="en-US" sz="7205" dirty="0">
                <a:solidFill>
                  <a:srgbClr val="FCCFA5"/>
                </a:solidFill>
                <a:latin typeface="Chromium One"/>
                <a:ea typeface="Chromium One"/>
                <a:cs typeface="Chromium One"/>
                <a:sym typeface="Chromium One"/>
              </a:rPr>
              <a:t>Conclusion</a:t>
            </a:r>
          </a:p>
        </p:txBody>
      </p:sp>
      <p:sp>
        <p:nvSpPr>
          <p:cNvPr id="9" name="Freeform 9"/>
          <p:cNvSpPr/>
          <p:nvPr/>
        </p:nvSpPr>
        <p:spPr>
          <a:xfrm>
            <a:off x="16184564" y="2968774"/>
            <a:ext cx="3076960" cy="2511918"/>
          </a:xfrm>
          <a:custGeom>
            <a:avLst/>
            <a:gdLst/>
            <a:ahLst/>
            <a:cxnLst/>
            <a:rect l="l" t="t" r="r" b="b"/>
            <a:pathLst>
              <a:path w="3076960" h="2511918">
                <a:moveTo>
                  <a:pt x="0" y="0"/>
                </a:moveTo>
                <a:lnTo>
                  <a:pt x="3076960" y="0"/>
                </a:lnTo>
                <a:lnTo>
                  <a:pt x="3076960" y="2511919"/>
                </a:lnTo>
                <a:lnTo>
                  <a:pt x="0" y="251191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7889989" cy="7875644"/>
          </a:xfrm>
          <a:custGeom>
            <a:avLst/>
            <a:gdLst/>
            <a:ahLst/>
            <a:cxnLst/>
            <a:rect l="l" t="t" r="r" b="b"/>
            <a:pathLst>
              <a:path w="7889989" h="7875644">
                <a:moveTo>
                  <a:pt x="7889989" y="0"/>
                </a:moveTo>
                <a:lnTo>
                  <a:pt x="0" y="0"/>
                </a:lnTo>
                <a:lnTo>
                  <a:pt x="0" y="7875644"/>
                </a:lnTo>
                <a:lnTo>
                  <a:pt x="7889989" y="7875644"/>
                </a:lnTo>
                <a:lnTo>
                  <a:pt x="7889989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1207107">
            <a:off x="13464530" y="4960535"/>
            <a:ext cx="5212454" cy="5843558"/>
          </a:xfrm>
          <a:custGeom>
            <a:avLst/>
            <a:gdLst/>
            <a:ahLst/>
            <a:cxnLst/>
            <a:rect l="l" t="t" r="r" b="b"/>
            <a:pathLst>
              <a:path w="5212454" h="5843558">
                <a:moveTo>
                  <a:pt x="0" y="0"/>
                </a:moveTo>
                <a:lnTo>
                  <a:pt x="5212454" y="0"/>
                </a:lnTo>
                <a:lnTo>
                  <a:pt x="5212454" y="5843558"/>
                </a:lnTo>
                <a:lnTo>
                  <a:pt x="0" y="58435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0" y="4242368"/>
            <a:ext cx="8339736" cy="6044632"/>
          </a:xfrm>
          <a:custGeom>
            <a:avLst/>
            <a:gdLst/>
            <a:ahLst/>
            <a:cxnLst/>
            <a:rect l="l" t="t" r="r" b="b"/>
            <a:pathLst>
              <a:path w="8339736" h="6044632">
                <a:moveTo>
                  <a:pt x="0" y="0"/>
                </a:moveTo>
                <a:lnTo>
                  <a:pt x="8339736" y="0"/>
                </a:lnTo>
                <a:lnTo>
                  <a:pt x="8339736" y="6044632"/>
                </a:lnTo>
                <a:lnTo>
                  <a:pt x="0" y="604463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5466016">
            <a:off x="13341780" y="-87837"/>
            <a:ext cx="4923536" cy="5198117"/>
          </a:xfrm>
          <a:custGeom>
            <a:avLst/>
            <a:gdLst/>
            <a:ahLst/>
            <a:cxnLst/>
            <a:rect l="l" t="t" r="r" b="b"/>
            <a:pathLst>
              <a:path w="4923536" h="5198117">
                <a:moveTo>
                  <a:pt x="0" y="0"/>
                </a:moveTo>
                <a:lnTo>
                  <a:pt x="4923536" y="0"/>
                </a:lnTo>
                <a:lnTo>
                  <a:pt x="4923536" y="5198117"/>
                </a:lnTo>
                <a:lnTo>
                  <a:pt x="0" y="519811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4468669" y="3500696"/>
            <a:ext cx="9350663" cy="473142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163"/>
              </a:lnSpc>
            </a:pPr>
            <a:r>
              <a:rPr lang="en-US" sz="16818" dirty="0">
                <a:solidFill>
                  <a:srgbClr val="C09A7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N Meringue"/>
                <a:ea typeface="TAN Meringue"/>
                <a:cs typeface="TAN Meringue"/>
                <a:sym typeface="TAN Meringue"/>
              </a:rPr>
              <a:t>THANK</a:t>
            </a:r>
          </a:p>
          <a:p>
            <a:pPr algn="ctr">
              <a:lnSpc>
                <a:spcPts val="18163"/>
              </a:lnSpc>
            </a:pPr>
            <a:r>
              <a:rPr lang="en-US" sz="16818" dirty="0">
                <a:solidFill>
                  <a:srgbClr val="C09A7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N Meringue"/>
                <a:ea typeface="TAN Meringue"/>
                <a:cs typeface="TAN Meringue"/>
                <a:sym typeface="TAN Meringue"/>
              </a:rPr>
              <a:t>YOU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1597</Words>
  <Application>Microsoft Office PowerPoint</Application>
  <PresentationFormat>Custom</PresentationFormat>
  <Paragraphs>247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0" baseType="lpstr">
      <vt:lpstr>TAN Meringue</vt:lpstr>
      <vt:lpstr>Calibri</vt:lpstr>
      <vt:lpstr>Fredoka</vt:lpstr>
      <vt:lpstr>Pacifico</vt:lpstr>
      <vt:lpstr>Arima Madurai Bold</vt:lpstr>
      <vt:lpstr>Arial</vt:lpstr>
      <vt:lpstr>Arima Madurai</vt:lpstr>
      <vt:lpstr>Chromium One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Brown and Cream Abstrac Modern Group Project Presentation</dc:title>
  <dc:creator>HP</dc:creator>
  <cp:lastModifiedBy>بـســملـه مـحـمــد سـيــد</cp:lastModifiedBy>
  <cp:revision>4</cp:revision>
  <dcterms:created xsi:type="dcterms:W3CDTF">2006-08-16T00:00:00Z</dcterms:created>
  <dcterms:modified xsi:type="dcterms:W3CDTF">2026-09-12T02:41:09Z</dcterms:modified>
  <dc:identifier>DAHU2irKdBw</dc:identifier>
</cp:coreProperties>
</file>